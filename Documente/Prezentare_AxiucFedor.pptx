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6" r:id="rId9"/>
    <p:sldId id="265" r:id="rId10"/>
    <p:sldId id="264" r:id="rId11"/>
    <p:sldId id="267" r:id="rId12"/>
    <p:sldId id="268" r:id="rId13"/>
    <p:sldId id="269" r:id="rId14"/>
    <p:sldId id="270" r:id="rId15"/>
    <p:sldId id="273" r:id="rId16"/>
    <p:sldId id="274" r:id="rId17"/>
    <p:sldId id="275" r:id="rId18"/>
    <p:sldId id="276" r:id="rId19"/>
    <p:sldId id="277"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E2A47"/>
          </a:solidFill>
          <a:ln/>
        </p:spPr>
        <p:txBody>
          <a:bodyPr/>
          <a:lstStyle/>
          <a:p>
            <a:endParaRPr lang="en-US"/>
          </a:p>
        </p:txBody>
      </p:sp>
      <p:sp>
        <p:nvSpPr>
          <p:cNvPr id="3" name="Shape 1"/>
          <p:cNvSpPr/>
          <p:nvPr/>
        </p:nvSpPr>
        <p:spPr>
          <a:xfrm>
            <a:off x="0" y="6729984"/>
            <a:ext cx="12191695" cy="128016"/>
          </a:xfrm>
          <a:prstGeom prst="rect">
            <a:avLst/>
          </a:prstGeom>
          <a:solidFill>
            <a:srgbClr val="0E2A47"/>
          </a:solidFill>
          <a:ln/>
        </p:spPr>
        <p:txBody>
          <a:bodyPr/>
          <a:lstStyle/>
          <a:p>
            <a:endParaRPr lang="en-US"/>
          </a:p>
        </p:txBody>
      </p:sp>
      <p:sp>
        <p:nvSpPr>
          <p:cNvPr id="4" name="Text 2"/>
          <p:cNvSpPr/>
          <p:nvPr/>
        </p:nvSpPr>
        <p:spPr>
          <a:xfrm>
            <a:off x="822960" y="1371600"/>
            <a:ext cx="7315200" cy="365760"/>
          </a:xfrm>
          <a:prstGeom prst="rect">
            <a:avLst/>
          </a:prstGeom>
          <a:noFill/>
          <a:ln/>
        </p:spPr>
        <p:txBody>
          <a:bodyPr wrap="square" lIns="0" tIns="0" rIns="0" bIns="0" rtlCol="0" anchor="ctr"/>
          <a:lstStyle/>
          <a:p>
            <a:pPr marL="0" indent="0">
              <a:buNone/>
            </a:pPr>
            <a:r>
              <a:rPr lang="en-US" sz="1200" b="1" kern="0" spc="300" dirty="0">
                <a:solidFill>
                  <a:srgbClr val="0097A7"/>
                </a:solidFill>
                <a:latin typeface="Calibri" pitchFamily="34" charset="0"/>
                <a:ea typeface="Calibri" pitchFamily="34" charset="-122"/>
                <a:cs typeface="Calibri" pitchFamily="34" charset="-120"/>
              </a:rPr>
              <a:t>BACHELOR'S THESIS</a:t>
            </a:r>
            <a:endParaRPr lang="en-US" sz="1200" dirty="0"/>
          </a:p>
        </p:txBody>
      </p:sp>
      <p:sp>
        <p:nvSpPr>
          <p:cNvPr id="5" name="Text 3"/>
          <p:cNvSpPr/>
          <p:nvPr/>
        </p:nvSpPr>
        <p:spPr>
          <a:xfrm>
            <a:off x="822960" y="1828800"/>
            <a:ext cx="10058400" cy="1737360"/>
          </a:xfrm>
          <a:prstGeom prst="rect">
            <a:avLst/>
          </a:prstGeom>
          <a:noFill/>
          <a:ln/>
        </p:spPr>
        <p:txBody>
          <a:bodyPr wrap="square" lIns="0" tIns="0" rIns="0" bIns="0" rtlCol="0" anchor="ctr"/>
          <a:lstStyle/>
          <a:p>
            <a:pPr marL="0" indent="0">
              <a:lnSpc>
                <a:spcPct val="108000"/>
              </a:lnSpc>
              <a:buNone/>
            </a:pPr>
            <a:r>
              <a:rPr lang="en-US" sz="3400" b="1" dirty="0">
                <a:solidFill>
                  <a:srgbClr val="1A1A1A"/>
                </a:solidFill>
                <a:latin typeface="Cambria" pitchFamily="34" charset="0"/>
                <a:ea typeface="Cambria" pitchFamily="34" charset="-122"/>
                <a:cs typeface="Cambria" pitchFamily="34" charset="-120"/>
              </a:rPr>
              <a:t>Cross-Modal Face-Voice Biometric</a:t>
            </a:r>
            <a:endParaRPr lang="en-US" sz="3400" dirty="0"/>
          </a:p>
          <a:p>
            <a:pPr marL="0" indent="0">
              <a:lnSpc>
                <a:spcPct val="108000"/>
              </a:lnSpc>
              <a:buNone/>
            </a:pPr>
            <a:r>
              <a:rPr lang="en-US" sz="3400" b="1" dirty="0">
                <a:solidFill>
                  <a:srgbClr val="1A1A1A"/>
                </a:solidFill>
                <a:latin typeface="Cambria" pitchFamily="34" charset="0"/>
                <a:ea typeface="Cambria" pitchFamily="34" charset="-122"/>
                <a:cs typeface="Cambria" pitchFamily="34" charset="-120"/>
              </a:rPr>
              <a:t>Matching in Multilingual Environments</a:t>
            </a:r>
            <a:endParaRPr lang="en-US" sz="3400" dirty="0"/>
          </a:p>
        </p:txBody>
      </p:sp>
      <p:sp>
        <p:nvSpPr>
          <p:cNvPr id="6" name="Shape 4"/>
          <p:cNvSpPr/>
          <p:nvPr/>
        </p:nvSpPr>
        <p:spPr>
          <a:xfrm>
            <a:off x="822960" y="3703320"/>
            <a:ext cx="2926080" cy="27432"/>
          </a:xfrm>
          <a:prstGeom prst="rect">
            <a:avLst/>
          </a:prstGeom>
          <a:solidFill>
            <a:srgbClr val="0097A7"/>
          </a:solidFill>
          <a:ln/>
        </p:spPr>
        <p:txBody>
          <a:bodyPr/>
          <a:lstStyle/>
          <a:p>
            <a:endParaRPr lang="en-US"/>
          </a:p>
        </p:txBody>
      </p:sp>
      <p:sp>
        <p:nvSpPr>
          <p:cNvPr id="7" name="Text 5"/>
          <p:cNvSpPr/>
          <p:nvPr/>
        </p:nvSpPr>
        <p:spPr>
          <a:xfrm>
            <a:off x="822960" y="3977640"/>
            <a:ext cx="5486400" cy="32004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Student:  Fedor-Florin AXIUC</a:t>
            </a:r>
            <a:endParaRPr lang="en-US" sz="1400" dirty="0"/>
          </a:p>
        </p:txBody>
      </p:sp>
      <p:sp>
        <p:nvSpPr>
          <p:cNvPr id="8" name="Text 6"/>
          <p:cNvSpPr/>
          <p:nvPr/>
        </p:nvSpPr>
        <p:spPr>
          <a:xfrm>
            <a:off x="822960" y="4315968"/>
            <a:ext cx="6400800" cy="32004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Coordinator:  Prof. dr. ing. Mircea GIURGIU</a:t>
            </a:r>
            <a:endParaRPr lang="en-US" sz="1400" dirty="0"/>
          </a:p>
        </p:txBody>
      </p:sp>
      <p:sp>
        <p:nvSpPr>
          <p:cNvPr id="9" name="Text 7"/>
          <p:cNvSpPr/>
          <p:nvPr/>
        </p:nvSpPr>
        <p:spPr>
          <a:xfrm>
            <a:off x="822960" y="4937760"/>
            <a:ext cx="7315200" cy="320040"/>
          </a:xfrm>
          <a:prstGeom prst="rect">
            <a:avLst/>
          </a:prstGeom>
          <a:noFill/>
          <a:ln/>
        </p:spPr>
        <p:txBody>
          <a:bodyPr wrap="square" lIns="0" tIns="0" rIns="0" bIns="0" rtlCol="0" anchor="ctr"/>
          <a:lstStyle/>
          <a:p>
            <a:pPr marL="0" indent="0">
              <a:buNone/>
            </a:pPr>
            <a:r>
              <a:rPr lang="en-US" sz="1150" i="1" dirty="0">
                <a:solidFill>
                  <a:srgbClr val="5A6672"/>
                </a:solidFill>
                <a:latin typeface="Calibri" pitchFamily="34" charset="0"/>
                <a:ea typeface="Calibri" pitchFamily="34" charset="-122"/>
                <a:cs typeface="Calibri" pitchFamily="34" charset="-120"/>
              </a:rPr>
              <a:t>Faculty of Electronics, Telecommunications and Information Technology</a:t>
            </a:r>
            <a:endParaRPr lang="en-US" sz="1150" dirty="0"/>
          </a:p>
        </p:txBody>
      </p:sp>
      <p:sp>
        <p:nvSpPr>
          <p:cNvPr id="10" name="Text 8"/>
          <p:cNvSpPr/>
          <p:nvPr/>
        </p:nvSpPr>
        <p:spPr>
          <a:xfrm>
            <a:off x="822960" y="6126480"/>
            <a:ext cx="2743200" cy="320040"/>
          </a:xfrm>
          <a:prstGeom prst="rect">
            <a:avLst/>
          </a:prstGeom>
          <a:noFill/>
          <a:ln/>
        </p:spPr>
        <p:txBody>
          <a:bodyPr wrap="square" lIns="0" tIns="0" rIns="0" bIns="0" rtlCol="0" anchor="ctr"/>
          <a:lstStyle/>
          <a:p>
            <a:pPr marL="0" indent="0">
              <a:buNone/>
            </a:pPr>
            <a:r>
              <a:rPr lang="en-US" sz="1100" dirty="0">
                <a:solidFill>
                  <a:srgbClr val="5A6672"/>
                </a:solidFill>
                <a:latin typeface="Calibri" pitchFamily="34" charset="0"/>
                <a:ea typeface="Calibri" pitchFamily="34" charset="-122"/>
                <a:cs typeface="Calibri" pitchFamily="34" charset="-120"/>
              </a:rPr>
              <a:t>2026</a:t>
            </a:r>
            <a:endParaRPr lang="en-US" sz="1100" dirty="0"/>
          </a:p>
        </p:txBody>
      </p:sp>
      <p:sp>
        <p:nvSpPr>
          <p:cNvPr id="11" name="Text 9"/>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 / 19</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502920"/>
          </a:xfrm>
          <a:prstGeom prst="rect">
            <a:avLst/>
          </a:prstGeom>
          <a:noFill/>
          <a:ln/>
        </p:spPr>
        <p:txBody>
          <a:bodyPr wrap="square" lIns="0" tIns="0" rIns="0" bIns="0" rtlCol="0" anchor="ctr"/>
          <a:lstStyle/>
          <a:p>
            <a:pPr marL="0" indent="0">
              <a:buNone/>
            </a:pPr>
            <a:r>
              <a:rPr lang="en-US" sz="2600" b="1" dirty="0">
                <a:solidFill>
                  <a:srgbClr val="1A1A1A"/>
                </a:solidFill>
                <a:latin typeface="Cambria" pitchFamily="34" charset="0"/>
                <a:ea typeface="Cambria" pitchFamily="34" charset="-122"/>
                <a:cs typeface="Cambria" pitchFamily="34" charset="-120"/>
              </a:rPr>
              <a:t>Contents</a:t>
            </a:r>
            <a:endParaRPr lang="en-US" sz="2600" dirty="0"/>
          </a:p>
        </p:txBody>
      </p:sp>
      <p:sp>
        <p:nvSpPr>
          <p:cNvPr id="3" name="Shape 1"/>
          <p:cNvSpPr/>
          <p:nvPr/>
        </p:nvSpPr>
        <p:spPr>
          <a:xfrm>
            <a:off x="640080" y="1097280"/>
            <a:ext cx="10911535" cy="16459"/>
          </a:xfrm>
          <a:prstGeom prst="rect">
            <a:avLst/>
          </a:prstGeom>
          <a:solidFill>
            <a:srgbClr val="0E2A47"/>
          </a:solidFill>
          <a:ln/>
        </p:spPr>
        <p:txBody>
          <a:bodyPr/>
          <a:lstStyle/>
          <a:p>
            <a:endParaRPr lang="en-US"/>
          </a:p>
        </p:txBody>
      </p:sp>
      <p:sp>
        <p:nvSpPr>
          <p:cNvPr id="4" name="Text 2"/>
          <p:cNvSpPr/>
          <p:nvPr/>
        </p:nvSpPr>
        <p:spPr>
          <a:xfrm>
            <a:off x="640080" y="1417320"/>
            <a:ext cx="640080" cy="502920"/>
          </a:xfrm>
          <a:prstGeom prst="rect">
            <a:avLst/>
          </a:prstGeom>
          <a:noFill/>
          <a:ln/>
        </p:spPr>
        <p:txBody>
          <a:bodyPr wrap="square" lIns="0" tIns="0" rIns="0" bIns="0" rtlCol="0" anchor="ctr"/>
          <a:lstStyle/>
          <a:p>
            <a:pPr marL="0" indent="0">
              <a:buNone/>
            </a:pPr>
            <a:r>
              <a:rPr lang="en-US" sz="1900" b="1" dirty="0">
                <a:solidFill>
                  <a:srgbClr val="0097A7"/>
                </a:solidFill>
                <a:latin typeface="Cambria" pitchFamily="34" charset="0"/>
                <a:ea typeface="Cambria" pitchFamily="34" charset="-122"/>
                <a:cs typeface="Cambria" pitchFamily="34" charset="-120"/>
              </a:rPr>
              <a:t>1</a:t>
            </a:r>
            <a:endParaRPr lang="en-US" sz="1900" dirty="0"/>
          </a:p>
        </p:txBody>
      </p:sp>
      <p:sp>
        <p:nvSpPr>
          <p:cNvPr id="5" name="Text 3"/>
          <p:cNvSpPr/>
          <p:nvPr/>
        </p:nvSpPr>
        <p:spPr>
          <a:xfrm>
            <a:off x="1371600" y="1435608"/>
            <a:ext cx="493776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Introduction</a:t>
            </a:r>
            <a:endParaRPr lang="en-US" sz="1500" dirty="0"/>
          </a:p>
        </p:txBody>
      </p:sp>
      <p:sp>
        <p:nvSpPr>
          <p:cNvPr id="6" name="Text 4"/>
          <p:cNvSpPr/>
          <p:nvPr/>
        </p:nvSpPr>
        <p:spPr>
          <a:xfrm>
            <a:off x="6492240" y="1463040"/>
            <a:ext cx="5029200" cy="365760"/>
          </a:xfrm>
          <a:prstGeom prst="rect">
            <a:avLst/>
          </a:prstGeom>
          <a:noFill/>
          <a:ln/>
        </p:spPr>
        <p:txBody>
          <a:bodyPr wrap="square" lIns="0" tIns="0" rIns="0" bIns="0" rtlCol="0" anchor="ctr"/>
          <a:lstStyle/>
          <a:p>
            <a:pPr marL="0" indent="0">
              <a:buNone/>
            </a:pPr>
            <a:r>
              <a:rPr lang="en-US" sz="1200" dirty="0">
                <a:solidFill>
                  <a:srgbClr val="5A6672"/>
                </a:solidFill>
                <a:latin typeface="Calibri" pitchFamily="34" charset="0"/>
                <a:ea typeface="Calibri" pitchFamily="34" charset="-122"/>
                <a:cs typeface="Calibri" pitchFamily="34" charset="-120"/>
              </a:rPr>
              <a:t>Objectives and scope</a:t>
            </a:r>
            <a:endParaRPr lang="en-US" sz="1200" dirty="0"/>
          </a:p>
        </p:txBody>
      </p:sp>
      <p:sp>
        <p:nvSpPr>
          <p:cNvPr id="7" name="Shape 5"/>
          <p:cNvSpPr/>
          <p:nvPr/>
        </p:nvSpPr>
        <p:spPr>
          <a:xfrm>
            <a:off x="640080" y="1984248"/>
            <a:ext cx="10911535" cy="9144"/>
          </a:xfrm>
          <a:prstGeom prst="rect">
            <a:avLst/>
          </a:prstGeom>
          <a:solidFill>
            <a:srgbClr val="C7CDD3"/>
          </a:solidFill>
          <a:ln/>
        </p:spPr>
        <p:txBody>
          <a:bodyPr/>
          <a:lstStyle/>
          <a:p>
            <a:endParaRPr lang="en-US"/>
          </a:p>
        </p:txBody>
      </p:sp>
      <p:sp>
        <p:nvSpPr>
          <p:cNvPr id="8" name="Text 6"/>
          <p:cNvSpPr/>
          <p:nvPr/>
        </p:nvSpPr>
        <p:spPr>
          <a:xfrm>
            <a:off x="640080" y="2194560"/>
            <a:ext cx="640080" cy="502920"/>
          </a:xfrm>
          <a:prstGeom prst="rect">
            <a:avLst/>
          </a:prstGeom>
          <a:noFill/>
          <a:ln/>
        </p:spPr>
        <p:txBody>
          <a:bodyPr wrap="square" lIns="0" tIns="0" rIns="0" bIns="0" rtlCol="0" anchor="ctr"/>
          <a:lstStyle/>
          <a:p>
            <a:pPr marL="0" indent="0">
              <a:buNone/>
            </a:pPr>
            <a:r>
              <a:rPr lang="en-US" sz="1900" b="1" dirty="0">
                <a:solidFill>
                  <a:srgbClr val="0097A7"/>
                </a:solidFill>
                <a:latin typeface="Cambria" pitchFamily="34" charset="0"/>
                <a:ea typeface="Cambria" pitchFamily="34" charset="-122"/>
                <a:cs typeface="Cambria" pitchFamily="34" charset="-120"/>
              </a:rPr>
              <a:t>2</a:t>
            </a:r>
            <a:endParaRPr lang="en-US" sz="1900" dirty="0"/>
          </a:p>
        </p:txBody>
      </p:sp>
      <p:sp>
        <p:nvSpPr>
          <p:cNvPr id="9" name="Text 7"/>
          <p:cNvSpPr/>
          <p:nvPr/>
        </p:nvSpPr>
        <p:spPr>
          <a:xfrm>
            <a:off x="1371600" y="2212848"/>
            <a:ext cx="493776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State of the Art</a:t>
            </a:r>
            <a:endParaRPr lang="en-US" sz="1500" dirty="0"/>
          </a:p>
        </p:txBody>
      </p:sp>
      <p:sp>
        <p:nvSpPr>
          <p:cNvPr id="10" name="Text 8"/>
          <p:cNvSpPr/>
          <p:nvPr/>
        </p:nvSpPr>
        <p:spPr>
          <a:xfrm>
            <a:off x="6492240" y="2240280"/>
            <a:ext cx="5029200" cy="365760"/>
          </a:xfrm>
          <a:prstGeom prst="rect">
            <a:avLst/>
          </a:prstGeom>
          <a:noFill/>
          <a:ln/>
        </p:spPr>
        <p:txBody>
          <a:bodyPr wrap="square" lIns="0" tIns="0" rIns="0" bIns="0" rtlCol="0" anchor="ctr"/>
          <a:lstStyle/>
          <a:p>
            <a:pPr marL="0" indent="0">
              <a:buNone/>
            </a:pPr>
            <a:r>
              <a:rPr lang="en-US" sz="1200" dirty="0">
                <a:solidFill>
                  <a:srgbClr val="5A6672"/>
                </a:solidFill>
                <a:latin typeface="Calibri" pitchFamily="34" charset="0"/>
                <a:ea typeface="Calibri" pitchFamily="34" charset="-122"/>
                <a:cs typeface="Calibri" pitchFamily="34" charset="-120"/>
              </a:rPr>
              <a:t>FAME challenge, published baselines</a:t>
            </a:r>
            <a:endParaRPr lang="en-US" sz="1200" dirty="0"/>
          </a:p>
        </p:txBody>
      </p:sp>
      <p:sp>
        <p:nvSpPr>
          <p:cNvPr id="11" name="Shape 9"/>
          <p:cNvSpPr/>
          <p:nvPr/>
        </p:nvSpPr>
        <p:spPr>
          <a:xfrm>
            <a:off x="640080" y="2761488"/>
            <a:ext cx="10911535" cy="9144"/>
          </a:xfrm>
          <a:prstGeom prst="rect">
            <a:avLst/>
          </a:prstGeom>
          <a:solidFill>
            <a:srgbClr val="C7CDD3"/>
          </a:solidFill>
          <a:ln/>
        </p:spPr>
        <p:txBody>
          <a:bodyPr/>
          <a:lstStyle/>
          <a:p>
            <a:endParaRPr lang="en-US"/>
          </a:p>
        </p:txBody>
      </p:sp>
      <p:sp>
        <p:nvSpPr>
          <p:cNvPr id="12" name="Text 10"/>
          <p:cNvSpPr/>
          <p:nvPr/>
        </p:nvSpPr>
        <p:spPr>
          <a:xfrm>
            <a:off x="640080" y="2971800"/>
            <a:ext cx="640080" cy="502920"/>
          </a:xfrm>
          <a:prstGeom prst="rect">
            <a:avLst/>
          </a:prstGeom>
          <a:noFill/>
          <a:ln/>
        </p:spPr>
        <p:txBody>
          <a:bodyPr wrap="square" lIns="0" tIns="0" rIns="0" bIns="0" rtlCol="0" anchor="ctr"/>
          <a:lstStyle/>
          <a:p>
            <a:pPr marL="0" indent="0">
              <a:buNone/>
            </a:pPr>
            <a:r>
              <a:rPr lang="en-US" sz="1900" b="1" dirty="0">
                <a:solidFill>
                  <a:srgbClr val="0097A7"/>
                </a:solidFill>
                <a:latin typeface="Cambria" pitchFamily="34" charset="0"/>
                <a:ea typeface="Cambria" pitchFamily="34" charset="-122"/>
                <a:cs typeface="Cambria" pitchFamily="34" charset="-120"/>
              </a:rPr>
              <a:t>3</a:t>
            </a:r>
            <a:endParaRPr lang="en-US" sz="1900" dirty="0"/>
          </a:p>
        </p:txBody>
      </p:sp>
      <p:sp>
        <p:nvSpPr>
          <p:cNvPr id="13" name="Text 11"/>
          <p:cNvSpPr/>
          <p:nvPr/>
        </p:nvSpPr>
        <p:spPr>
          <a:xfrm>
            <a:off x="1371600" y="2990088"/>
            <a:ext cx="493776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Theoretical Foundation and Architecture</a:t>
            </a:r>
            <a:endParaRPr lang="en-US" sz="1500" dirty="0"/>
          </a:p>
        </p:txBody>
      </p:sp>
      <p:sp>
        <p:nvSpPr>
          <p:cNvPr id="14" name="Text 12"/>
          <p:cNvSpPr/>
          <p:nvPr/>
        </p:nvSpPr>
        <p:spPr>
          <a:xfrm>
            <a:off x="6492240" y="3017520"/>
            <a:ext cx="5029200" cy="365760"/>
          </a:xfrm>
          <a:prstGeom prst="rect">
            <a:avLst/>
          </a:prstGeom>
          <a:noFill/>
          <a:ln/>
        </p:spPr>
        <p:txBody>
          <a:bodyPr wrap="square" lIns="0" tIns="0" rIns="0" bIns="0" rtlCol="0" anchor="ctr"/>
          <a:lstStyle/>
          <a:p>
            <a:pPr marL="0" indent="0">
              <a:buNone/>
            </a:pPr>
            <a:r>
              <a:rPr lang="en-US" sz="1200" dirty="0">
                <a:solidFill>
                  <a:srgbClr val="5A6672"/>
                </a:solidFill>
                <a:latin typeface="Calibri" pitchFamily="34" charset="0"/>
                <a:ea typeface="Calibri" pitchFamily="34" charset="-122"/>
                <a:cs typeface="Calibri" pitchFamily="34" charset="-120"/>
              </a:rPr>
              <a:t>Encoders, translators, fusion, loss functions</a:t>
            </a:r>
            <a:endParaRPr lang="en-US" sz="1200" dirty="0"/>
          </a:p>
        </p:txBody>
      </p:sp>
      <p:sp>
        <p:nvSpPr>
          <p:cNvPr id="15" name="Shape 13"/>
          <p:cNvSpPr/>
          <p:nvPr/>
        </p:nvSpPr>
        <p:spPr>
          <a:xfrm>
            <a:off x="640080" y="3538728"/>
            <a:ext cx="10911535" cy="9144"/>
          </a:xfrm>
          <a:prstGeom prst="rect">
            <a:avLst/>
          </a:prstGeom>
          <a:solidFill>
            <a:srgbClr val="C7CDD3"/>
          </a:solidFill>
          <a:ln/>
        </p:spPr>
        <p:txBody>
          <a:bodyPr/>
          <a:lstStyle/>
          <a:p>
            <a:endParaRPr lang="en-US"/>
          </a:p>
        </p:txBody>
      </p:sp>
      <p:sp>
        <p:nvSpPr>
          <p:cNvPr id="16" name="Text 14"/>
          <p:cNvSpPr/>
          <p:nvPr/>
        </p:nvSpPr>
        <p:spPr>
          <a:xfrm>
            <a:off x="640080" y="3749040"/>
            <a:ext cx="640080" cy="502920"/>
          </a:xfrm>
          <a:prstGeom prst="rect">
            <a:avLst/>
          </a:prstGeom>
          <a:noFill/>
          <a:ln/>
        </p:spPr>
        <p:txBody>
          <a:bodyPr wrap="square" lIns="0" tIns="0" rIns="0" bIns="0" rtlCol="0" anchor="ctr"/>
          <a:lstStyle/>
          <a:p>
            <a:pPr marL="0" indent="0">
              <a:buNone/>
            </a:pPr>
            <a:r>
              <a:rPr lang="en-US" sz="1900" b="1" dirty="0">
                <a:solidFill>
                  <a:srgbClr val="0097A7"/>
                </a:solidFill>
                <a:latin typeface="Cambria" pitchFamily="34" charset="0"/>
                <a:ea typeface="Cambria" pitchFamily="34" charset="-122"/>
                <a:cs typeface="Cambria" pitchFamily="34" charset="-120"/>
              </a:rPr>
              <a:t>4</a:t>
            </a:r>
            <a:endParaRPr lang="en-US" sz="1900" dirty="0"/>
          </a:p>
        </p:txBody>
      </p:sp>
      <p:sp>
        <p:nvSpPr>
          <p:cNvPr id="17" name="Text 15"/>
          <p:cNvSpPr/>
          <p:nvPr/>
        </p:nvSpPr>
        <p:spPr>
          <a:xfrm>
            <a:off x="1371600" y="3767328"/>
            <a:ext cx="493776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Implementation</a:t>
            </a:r>
            <a:endParaRPr lang="en-US" sz="1500" dirty="0"/>
          </a:p>
        </p:txBody>
      </p:sp>
      <p:sp>
        <p:nvSpPr>
          <p:cNvPr id="18" name="Text 16"/>
          <p:cNvSpPr/>
          <p:nvPr/>
        </p:nvSpPr>
        <p:spPr>
          <a:xfrm>
            <a:off x="6492240" y="3794760"/>
            <a:ext cx="5029200" cy="365760"/>
          </a:xfrm>
          <a:prstGeom prst="rect">
            <a:avLst/>
          </a:prstGeom>
          <a:noFill/>
          <a:ln/>
        </p:spPr>
        <p:txBody>
          <a:bodyPr wrap="square" lIns="0" tIns="0" rIns="0" bIns="0" rtlCol="0" anchor="ctr"/>
          <a:lstStyle/>
          <a:p>
            <a:pPr marL="0" indent="0">
              <a:buNone/>
            </a:pPr>
            <a:r>
              <a:rPr lang="en-US" sz="1200" dirty="0">
                <a:solidFill>
                  <a:srgbClr val="5A6672"/>
                </a:solidFill>
                <a:latin typeface="Calibri" pitchFamily="34" charset="0"/>
                <a:ea typeface="Calibri" pitchFamily="34" charset="-122"/>
                <a:cs typeface="Calibri" pitchFamily="34" charset="-120"/>
              </a:rPr>
              <a:t>Datasets, technical challenges, RO-FaceVoice</a:t>
            </a:r>
            <a:endParaRPr lang="en-US" sz="1200" dirty="0"/>
          </a:p>
        </p:txBody>
      </p:sp>
      <p:sp>
        <p:nvSpPr>
          <p:cNvPr id="19" name="Shape 17"/>
          <p:cNvSpPr/>
          <p:nvPr/>
        </p:nvSpPr>
        <p:spPr>
          <a:xfrm>
            <a:off x="640080" y="4315968"/>
            <a:ext cx="10911535" cy="9144"/>
          </a:xfrm>
          <a:prstGeom prst="rect">
            <a:avLst/>
          </a:prstGeom>
          <a:solidFill>
            <a:srgbClr val="C7CDD3"/>
          </a:solidFill>
          <a:ln/>
        </p:spPr>
        <p:txBody>
          <a:bodyPr/>
          <a:lstStyle/>
          <a:p>
            <a:endParaRPr lang="en-US"/>
          </a:p>
        </p:txBody>
      </p:sp>
      <p:sp>
        <p:nvSpPr>
          <p:cNvPr id="20" name="Text 18"/>
          <p:cNvSpPr/>
          <p:nvPr/>
        </p:nvSpPr>
        <p:spPr>
          <a:xfrm>
            <a:off x="640080" y="4526280"/>
            <a:ext cx="640080" cy="502920"/>
          </a:xfrm>
          <a:prstGeom prst="rect">
            <a:avLst/>
          </a:prstGeom>
          <a:noFill/>
          <a:ln/>
        </p:spPr>
        <p:txBody>
          <a:bodyPr wrap="square" lIns="0" tIns="0" rIns="0" bIns="0" rtlCol="0" anchor="ctr"/>
          <a:lstStyle/>
          <a:p>
            <a:pPr marL="0" indent="0">
              <a:buNone/>
            </a:pPr>
            <a:r>
              <a:rPr lang="en-US" sz="1900" b="1" dirty="0">
                <a:solidFill>
                  <a:srgbClr val="0097A7"/>
                </a:solidFill>
                <a:latin typeface="Cambria" pitchFamily="34" charset="0"/>
                <a:ea typeface="Cambria" pitchFamily="34" charset="-122"/>
                <a:cs typeface="Cambria" pitchFamily="34" charset="-120"/>
              </a:rPr>
              <a:t>5</a:t>
            </a:r>
            <a:endParaRPr lang="en-US" sz="1900" dirty="0"/>
          </a:p>
        </p:txBody>
      </p:sp>
      <p:sp>
        <p:nvSpPr>
          <p:cNvPr id="21" name="Text 19"/>
          <p:cNvSpPr/>
          <p:nvPr/>
        </p:nvSpPr>
        <p:spPr>
          <a:xfrm>
            <a:off x="1371600" y="4544568"/>
            <a:ext cx="493776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Experimental Results</a:t>
            </a:r>
            <a:endParaRPr lang="en-US" sz="1500" dirty="0"/>
          </a:p>
        </p:txBody>
      </p:sp>
      <p:sp>
        <p:nvSpPr>
          <p:cNvPr id="22" name="Text 20"/>
          <p:cNvSpPr/>
          <p:nvPr/>
        </p:nvSpPr>
        <p:spPr>
          <a:xfrm>
            <a:off x="6492240" y="4572000"/>
            <a:ext cx="5029200" cy="365760"/>
          </a:xfrm>
          <a:prstGeom prst="rect">
            <a:avLst/>
          </a:prstGeom>
          <a:noFill/>
          <a:ln/>
        </p:spPr>
        <p:txBody>
          <a:bodyPr wrap="square" lIns="0" tIns="0" rIns="0" bIns="0" rtlCol="0" anchor="ctr"/>
          <a:lstStyle/>
          <a:p>
            <a:pPr marL="0" indent="0">
              <a:buNone/>
            </a:pPr>
            <a:r>
              <a:rPr lang="en-US" sz="1200" dirty="0">
                <a:solidFill>
                  <a:srgbClr val="5A6672"/>
                </a:solidFill>
                <a:latin typeface="Calibri" pitchFamily="34" charset="0"/>
                <a:ea typeface="Calibri" pitchFamily="34" charset="-122"/>
                <a:cs typeface="Calibri" pitchFamily="34" charset="-120"/>
              </a:rPr>
              <a:t>Component comparison, Urdu and Romanian evaluation</a:t>
            </a:r>
            <a:endParaRPr lang="en-US" sz="1200" dirty="0"/>
          </a:p>
        </p:txBody>
      </p:sp>
      <p:sp>
        <p:nvSpPr>
          <p:cNvPr id="23" name="Shape 21"/>
          <p:cNvSpPr/>
          <p:nvPr/>
        </p:nvSpPr>
        <p:spPr>
          <a:xfrm>
            <a:off x="640080" y="5093208"/>
            <a:ext cx="10911535" cy="9144"/>
          </a:xfrm>
          <a:prstGeom prst="rect">
            <a:avLst/>
          </a:prstGeom>
          <a:solidFill>
            <a:srgbClr val="C7CDD3"/>
          </a:solidFill>
          <a:ln/>
        </p:spPr>
        <p:txBody>
          <a:bodyPr/>
          <a:lstStyle/>
          <a:p>
            <a:endParaRPr lang="en-US"/>
          </a:p>
        </p:txBody>
      </p:sp>
      <p:sp>
        <p:nvSpPr>
          <p:cNvPr id="24" name="Text 22"/>
          <p:cNvSpPr/>
          <p:nvPr/>
        </p:nvSpPr>
        <p:spPr>
          <a:xfrm>
            <a:off x="640080" y="5303520"/>
            <a:ext cx="640080" cy="502920"/>
          </a:xfrm>
          <a:prstGeom prst="rect">
            <a:avLst/>
          </a:prstGeom>
          <a:noFill/>
          <a:ln/>
        </p:spPr>
        <p:txBody>
          <a:bodyPr wrap="square" lIns="0" tIns="0" rIns="0" bIns="0" rtlCol="0" anchor="ctr"/>
          <a:lstStyle/>
          <a:p>
            <a:pPr marL="0" indent="0">
              <a:buNone/>
            </a:pPr>
            <a:r>
              <a:rPr lang="en-US" sz="1900" b="1" dirty="0">
                <a:solidFill>
                  <a:srgbClr val="0097A7"/>
                </a:solidFill>
                <a:latin typeface="Cambria" pitchFamily="34" charset="0"/>
                <a:ea typeface="Cambria" pitchFamily="34" charset="-122"/>
                <a:cs typeface="Cambria" pitchFamily="34" charset="-120"/>
              </a:rPr>
              <a:t>6</a:t>
            </a:r>
            <a:endParaRPr lang="en-US" sz="1900" dirty="0"/>
          </a:p>
        </p:txBody>
      </p:sp>
      <p:sp>
        <p:nvSpPr>
          <p:cNvPr id="25" name="Text 23"/>
          <p:cNvSpPr/>
          <p:nvPr/>
        </p:nvSpPr>
        <p:spPr>
          <a:xfrm>
            <a:off x="1371600" y="5321808"/>
            <a:ext cx="4937760" cy="365760"/>
          </a:xfrm>
          <a:prstGeom prst="rect">
            <a:avLst/>
          </a:prstGeom>
          <a:noFill/>
          <a:ln/>
        </p:spPr>
        <p:txBody>
          <a:bodyPr wrap="square" lIns="0" tIns="0" rIns="0" bIns="0"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Conclusions</a:t>
            </a:r>
            <a:endParaRPr lang="en-US" sz="1500" dirty="0"/>
          </a:p>
        </p:txBody>
      </p:sp>
      <p:sp>
        <p:nvSpPr>
          <p:cNvPr id="26" name="Text 24"/>
          <p:cNvSpPr/>
          <p:nvPr/>
        </p:nvSpPr>
        <p:spPr>
          <a:xfrm>
            <a:off x="6492240" y="5349240"/>
            <a:ext cx="5029200" cy="365760"/>
          </a:xfrm>
          <a:prstGeom prst="rect">
            <a:avLst/>
          </a:prstGeom>
          <a:noFill/>
          <a:ln/>
        </p:spPr>
        <p:txBody>
          <a:bodyPr wrap="square" lIns="0" tIns="0" rIns="0" bIns="0" rtlCol="0" anchor="ctr"/>
          <a:lstStyle/>
          <a:p>
            <a:pPr marL="0" indent="0">
              <a:buNone/>
            </a:pPr>
            <a:r>
              <a:rPr lang="en-US" sz="1200" dirty="0">
                <a:solidFill>
                  <a:srgbClr val="5A6672"/>
                </a:solidFill>
                <a:latin typeface="Calibri" pitchFamily="34" charset="0"/>
                <a:ea typeface="Calibri" pitchFamily="34" charset="-122"/>
                <a:cs typeface="Calibri" pitchFamily="34" charset="-120"/>
              </a:rPr>
              <a:t>Limitations, contributions, future work</a:t>
            </a:r>
            <a:endParaRPr lang="en-US" sz="1200" dirty="0"/>
          </a:p>
        </p:txBody>
      </p:sp>
      <p:sp>
        <p:nvSpPr>
          <p:cNvPr id="27" name="Shape 25"/>
          <p:cNvSpPr/>
          <p:nvPr/>
        </p:nvSpPr>
        <p:spPr>
          <a:xfrm>
            <a:off x="640080" y="5870448"/>
            <a:ext cx="10911535" cy="9144"/>
          </a:xfrm>
          <a:prstGeom prst="rect">
            <a:avLst/>
          </a:prstGeom>
          <a:solidFill>
            <a:srgbClr val="C7CDD3"/>
          </a:solidFill>
          <a:ln/>
        </p:spPr>
        <p:txBody>
          <a:bodyPr/>
          <a:lstStyle/>
          <a:p>
            <a:endParaRPr lang="en-US"/>
          </a:p>
        </p:txBody>
      </p:sp>
      <p:sp>
        <p:nvSpPr>
          <p:cNvPr id="28" name="Text 26"/>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2 / 19</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1   INTRODUCTION</a:t>
            </a:r>
            <a:endParaRPr lang="en-US" sz="1100" dirty="0"/>
          </a:p>
        </p:txBody>
      </p:sp>
      <p:sp>
        <p:nvSpPr>
          <p:cNvPr id="3" name="Text 1"/>
          <p:cNvSpPr/>
          <p:nvPr/>
        </p:nvSpPr>
        <p:spPr>
          <a:xfrm>
            <a:off x="640080" y="685800"/>
            <a:ext cx="73152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Objectives</a:t>
            </a:r>
            <a:endParaRPr lang="en-US" sz="24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sp>
        <p:nvSpPr>
          <p:cNvPr id="5" name="Text 3"/>
          <p:cNvSpPr/>
          <p:nvPr/>
        </p:nvSpPr>
        <p:spPr>
          <a:xfrm>
            <a:off x="640080" y="1828800"/>
            <a:ext cx="457200" cy="411480"/>
          </a:xfrm>
          <a:prstGeom prst="rect">
            <a:avLst/>
          </a:prstGeom>
          <a:noFill/>
          <a:ln/>
        </p:spPr>
        <p:txBody>
          <a:bodyPr wrap="square" lIns="0" tIns="0" rIns="0" bIns="0" rtlCol="0" anchor="ctr"/>
          <a:lstStyle/>
          <a:p>
            <a:pPr marL="0" indent="0">
              <a:buNone/>
            </a:pPr>
            <a:r>
              <a:rPr lang="en-US" sz="1500" b="1" dirty="0">
                <a:solidFill>
                  <a:srgbClr val="0097A7"/>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828800"/>
            <a:ext cx="9875520" cy="41148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Build a system that matches a face to a voice across different spoken languages</a:t>
            </a:r>
            <a:endParaRPr lang="en-US" sz="1500" dirty="0"/>
          </a:p>
        </p:txBody>
      </p:sp>
      <p:sp>
        <p:nvSpPr>
          <p:cNvPr id="7" name="Text 5"/>
          <p:cNvSpPr/>
          <p:nvPr/>
        </p:nvSpPr>
        <p:spPr>
          <a:xfrm>
            <a:off x="640080" y="2487168"/>
            <a:ext cx="457200" cy="411480"/>
          </a:xfrm>
          <a:prstGeom prst="rect">
            <a:avLst/>
          </a:prstGeom>
          <a:noFill/>
          <a:ln/>
        </p:spPr>
        <p:txBody>
          <a:bodyPr wrap="square" lIns="0" tIns="0" rIns="0" bIns="0" rtlCol="0" anchor="ctr"/>
          <a:lstStyle/>
          <a:p>
            <a:pPr marL="0" indent="0">
              <a:buNone/>
            </a:pPr>
            <a:r>
              <a:rPr lang="en-US" sz="1500" b="1" dirty="0">
                <a:solidFill>
                  <a:srgbClr val="0097A7"/>
                </a:solidFill>
                <a:latin typeface="Calibri" pitchFamily="34" charset="0"/>
                <a:ea typeface="Calibri" pitchFamily="34" charset="-122"/>
                <a:cs typeface="Calibri" pitchFamily="34" charset="-120"/>
              </a:rPr>
              <a:t>2.</a:t>
            </a:r>
            <a:endParaRPr lang="en-US" sz="1500" dirty="0"/>
          </a:p>
        </p:txBody>
      </p:sp>
      <p:sp>
        <p:nvSpPr>
          <p:cNvPr id="8" name="Text 6"/>
          <p:cNvSpPr/>
          <p:nvPr/>
        </p:nvSpPr>
        <p:spPr>
          <a:xfrm>
            <a:off x="1188720" y="2487168"/>
            <a:ext cx="9875520" cy="41148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Combine pre-trained unimodal encoders through a shared, comparable embedding space</a:t>
            </a:r>
            <a:endParaRPr lang="en-US" sz="1500" dirty="0"/>
          </a:p>
        </p:txBody>
      </p:sp>
      <p:sp>
        <p:nvSpPr>
          <p:cNvPr id="9" name="Text 7"/>
          <p:cNvSpPr/>
          <p:nvPr/>
        </p:nvSpPr>
        <p:spPr>
          <a:xfrm>
            <a:off x="640080" y="3145536"/>
            <a:ext cx="457200" cy="411480"/>
          </a:xfrm>
          <a:prstGeom prst="rect">
            <a:avLst/>
          </a:prstGeom>
          <a:noFill/>
          <a:ln/>
        </p:spPr>
        <p:txBody>
          <a:bodyPr wrap="square" lIns="0" tIns="0" rIns="0" bIns="0" rtlCol="0" anchor="ctr"/>
          <a:lstStyle/>
          <a:p>
            <a:pPr marL="0" indent="0">
              <a:buNone/>
            </a:pPr>
            <a:r>
              <a:rPr lang="en-US" sz="1500" b="1" dirty="0">
                <a:solidFill>
                  <a:srgbClr val="0097A7"/>
                </a:solidFill>
                <a:latin typeface="Calibri" pitchFamily="34" charset="0"/>
                <a:ea typeface="Calibri" pitchFamily="34" charset="-122"/>
                <a:cs typeface="Calibri" pitchFamily="34" charset="-120"/>
              </a:rPr>
              <a:t>3.</a:t>
            </a:r>
            <a:endParaRPr lang="en-US" sz="1500" dirty="0"/>
          </a:p>
        </p:txBody>
      </p:sp>
      <p:sp>
        <p:nvSpPr>
          <p:cNvPr id="10" name="Text 8"/>
          <p:cNvSpPr/>
          <p:nvPr/>
        </p:nvSpPr>
        <p:spPr>
          <a:xfrm>
            <a:off x="1188720" y="3145536"/>
            <a:ext cx="9875520" cy="41148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Systematically isolate which architectural decisions actually drive performance</a:t>
            </a:r>
            <a:endParaRPr lang="en-US" sz="1500" dirty="0"/>
          </a:p>
        </p:txBody>
      </p:sp>
      <p:sp>
        <p:nvSpPr>
          <p:cNvPr id="11" name="Text 9"/>
          <p:cNvSpPr/>
          <p:nvPr/>
        </p:nvSpPr>
        <p:spPr>
          <a:xfrm>
            <a:off x="640080" y="3803904"/>
            <a:ext cx="457200" cy="411480"/>
          </a:xfrm>
          <a:prstGeom prst="rect">
            <a:avLst/>
          </a:prstGeom>
          <a:noFill/>
          <a:ln/>
        </p:spPr>
        <p:txBody>
          <a:bodyPr wrap="square" lIns="0" tIns="0" rIns="0" bIns="0" rtlCol="0" anchor="ctr"/>
          <a:lstStyle/>
          <a:p>
            <a:pPr marL="0" indent="0">
              <a:buNone/>
            </a:pPr>
            <a:r>
              <a:rPr lang="en-US" sz="1500" b="1" dirty="0">
                <a:solidFill>
                  <a:srgbClr val="0097A7"/>
                </a:solidFill>
                <a:latin typeface="Calibri" pitchFamily="34" charset="0"/>
                <a:ea typeface="Calibri" pitchFamily="34" charset="-122"/>
                <a:cs typeface="Calibri" pitchFamily="34" charset="-120"/>
              </a:rPr>
              <a:t>4.</a:t>
            </a:r>
            <a:endParaRPr lang="en-US" sz="1500" dirty="0"/>
          </a:p>
        </p:txBody>
      </p:sp>
      <p:sp>
        <p:nvSpPr>
          <p:cNvPr id="12" name="Text 10"/>
          <p:cNvSpPr/>
          <p:nvPr/>
        </p:nvSpPr>
        <p:spPr>
          <a:xfrm>
            <a:off x="1188720" y="3803904"/>
            <a:ext cx="9875520" cy="41148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Evaluate cross-lingual generalization </a:t>
            </a:r>
            <a:endParaRPr lang="en-US" sz="1500" dirty="0"/>
          </a:p>
        </p:txBody>
      </p:sp>
      <p:sp>
        <p:nvSpPr>
          <p:cNvPr id="13" name="Text 11"/>
          <p:cNvSpPr/>
          <p:nvPr/>
        </p:nvSpPr>
        <p:spPr>
          <a:xfrm>
            <a:off x="640080" y="4462272"/>
            <a:ext cx="457200" cy="411480"/>
          </a:xfrm>
          <a:prstGeom prst="rect">
            <a:avLst/>
          </a:prstGeom>
          <a:noFill/>
          <a:ln/>
        </p:spPr>
        <p:txBody>
          <a:bodyPr wrap="square" lIns="0" tIns="0" rIns="0" bIns="0" rtlCol="0" anchor="ctr"/>
          <a:lstStyle/>
          <a:p>
            <a:pPr marL="0" indent="0">
              <a:buNone/>
            </a:pPr>
            <a:r>
              <a:rPr lang="en-US" sz="1500" b="1" dirty="0">
                <a:solidFill>
                  <a:srgbClr val="0097A7"/>
                </a:solidFill>
                <a:latin typeface="Calibri" pitchFamily="34" charset="0"/>
                <a:ea typeface="Calibri" pitchFamily="34" charset="-122"/>
                <a:cs typeface="Calibri" pitchFamily="34" charset="-120"/>
              </a:rPr>
              <a:t>5.</a:t>
            </a:r>
            <a:endParaRPr lang="en-US" sz="1500" dirty="0"/>
          </a:p>
        </p:txBody>
      </p:sp>
      <p:sp>
        <p:nvSpPr>
          <p:cNvPr id="14" name="Text 12"/>
          <p:cNvSpPr/>
          <p:nvPr/>
        </p:nvSpPr>
        <p:spPr>
          <a:xfrm>
            <a:off x="1188720" y="4462272"/>
            <a:ext cx="9875520" cy="41148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Contribute an original evaluation resource for an unstudied language: Romanian</a:t>
            </a:r>
            <a:endParaRPr lang="en-US" sz="1500" dirty="0"/>
          </a:p>
        </p:txBody>
      </p:sp>
      <p:sp>
        <p:nvSpPr>
          <p:cNvPr id="15" name="Shape 13"/>
          <p:cNvSpPr/>
          <p:nvPr/>
        </p:nvSpPr>
        <p:spPr>
          <a:xfrm>
            <a:off x="640080" y="6437376"/>
            <a:ext cx="10088575" cy="10973"/>
          </a:xfrm>
          <a:prstGeom prst="rect">
            <a:avLst/>
          </a:prstGeom>
          <a:solidFill>
            <a:srgbClr val="C7CDD3"/>
          </a:solidFill>
          <a:ln/>
        </p:spPr>
        <p:txBody>
          <a:bodyPr/>
          <a:lstStyle/>
          <a:p>
            <a:endParaRPr lang="en-US"/>
          </a:p>
        </p:txBody>
      </p:sp>
      <p:sp>
        <p:nvSpPr>
          <p:cNvPr id="16" name="Shape 14"/>
          <p:cNvSpPr/>
          <p:nvPr/>
        </p:nvSpPr>
        <p:spPr>
          <a:xfrm>
            <a:off x="640080" y="6437376"/>
            <a:ext cx="1635709" cy="27432"/>
          </a:xfrm>
          <a:prstGeom prst="rect">
            <a:avLst/>
          </a:prstGeom>
          <a:solidFill>
            <a:srgbClr val="0097A7"/>
          </a:solidFill>
          <a:ln/>
        </p:spPr>
        <p:txBody>
          <a:bodyPr/>
          <a:lstStyle/>
          <a:p>
            <a:endParaRPr lang="en-US"/>
          </a:p>
        </p:txBody>
      </p:sp>
      <p:sp>
        <p:nvSpPr>
          <p:cNvPr id="17" name="Text 15"/>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Intro</a:t>
            </a:r>
            <a:endParaRPr lang="en-US" sz="850" dirty="0"/>
          </a:p>
        </p:txBody>
      </p:sp>
      <p:sp>
        <p:nvSpPr>
          <p:cNvPr id="18" name="Text 16"/>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9" name="Text 17"/>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20" name="Text 18"/>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21" name="Text 19"/>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22" name="Text 20"/>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23" name="Text 21"/>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3 / 19</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2   STATE OF THE ART</a:t>
            </a:r>
            <a:endParaRPr lang="en-US" sz="1100" dirty="0"/>
          </a:p>
        </p:txBody>
      </p:sp>
      <p:sp>
        <p:nvSpPr>
          <p:cNvPr id="3" name="Text 1"/>
          <p:cNvSpPr/>
          <p:nvPr/>
        </p:nvSpPr>
        <p:spPr>
          <a:xfrm>
            <a:off x="640080" y="685800"/>
            <a:ext cx="82296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State of the Art</a:t>
            </a:r>
            <a:endParaRPr lang="en-US" sz="2400" dirty="0"/>
          </a:p>
        </p:txBody>
      </p:sp>
      <p:sp>
        <p:nvSpPr>
          <p:cNvPr id="4" name="Text 2"/>
          <p:cNvSpPr/>
          <p:nvPr/>
        </p:nvSpPr>
        <p:spPr>
          <a:xfrm>
            <a:off x="640080" y="1170432"/>
            <a:ext cx="10058400" cy="320040"/>
          </a:xfrm>
          <a:prstGeom prst="rect">
            <a:avLst/>
          </a:prstGeom>
          <a:noFill/>
          <a:ln/>
        </p:spPr>
        <p:txBody>
          <a:bodyPr wrap="square" lIns="0" tIns="0" rIns="0" bIns="0" rtlCol="0" anchor="ctr"/>
          <a:lstStyle/>
          <a:p>
            <a:pPr marL="0" indent="0">
              <a:buNone/>
            </a:pPr>
            <a:r>
              <a:rPr lang="en-US" sz="1200" i="1" dirty="0">
                <a:solidFill>
                  <a:srgbClr val="5A6672"/>
                </a:solidFill>
                <a:latin typeface="Calibri" pitchFamily="34" charset="0"/>
                <a:ea typeface="Calibri" pitchFamily="34" charset="-122"/>
                <a:cs typeface="Calibri" pitchFamily="34" charset="-120"/>
              </a:rPr>
              <a:t>Face-voice Association in Multilingual Environments (FAME), MAVCeleb benchmark</a:t>
            </a:r>
            <a:endParaRPr lang="en-US" sz="1200" dirty="0"/>
          </a:p>
        </p:txBody>
      </p:sp>
      <p:sp>
        <p:nvSpPr>
          <p:cNvPr id="5" name="Shape 3"/>
          <p:cNvSpPr/>
          <p:nvPr/>
        </p:nvSpPr>
        <p:spPr>
          <a:xfrm>
            <a:off x="640080" y="1536192"/>
            <a:ext cx="10911535" cy="16459"/>
          </a:xfrm>
          <a:prstGeom prst="rect">
            <a:avLst/>
          </a:prstGeom>
          <a:solidFill>
            <a:srgbClr val="0E2A47"/>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2414016"/>
        </p:xfrm>
        <a:graphic>
          <a:graphicData uri="http://schemas.openxmlformats.org/drawingml/2006/table">
            <a:tbl>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System</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Challenge</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Urdu EER</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Key Contribution</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FOP [1]</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FAME baseline</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37.90%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Orthogonal Projection Loss</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MFV-KSD [2]</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FAME 2024, 1st</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19.90%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Keynote speaker diarization front-end + three-stage training</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RFOP [3]</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FAME 2026</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33.10%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Revisits fusion and orthogonal projection, focusing on relevant semantic information</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XM-ALIGN [4]</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FAME 2026</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not released</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Explicit MSE alignment + implicit shared-classifier alignment</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Simic et al. [5]</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FAME 2026, 1st</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23.99% (avg)</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Angular margin loss + auxiliary age-gender features</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640080" y="4153205"/>
            <a:ext cx="10881360" cy="5486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As we can see, even state of the art struggle to achieve a below 20% EER</a:t>
            </a:r>
            <a:endParaRPr lang="en-US" sz="1250" dirty="0"/>
          </a:p>
        </p:txBody>
      </p:sp>
      <p:sp>
        <p:nvSpPr>
          <p:cNvPr id="8" name="Shape 5"/>
          <p:cNvSpPr/>
          <p:nvPr/>
        </p:nvSpPr>
        <p:spPr>
          <a:xfrm>
            <a:off x="640080" y="6437376"/>
            <a:ext cx="10088575" cy="10973"/>
          </a:xfrm>
          <a:prstGeom prst="rect">
            <a:avLst/>
          </a:prstGeom>
          <a:solidFill>
            <a:srgbClr val="C7CDD3"/>
          </a:solidFill>
          <a:ln/>
        </p:spPr>
        <p:txBody>
          <a:bodyPr/>
          <a:lstStyle/>
          <a:p>
            <a:endParaRPr lang="en-US"/>
          </a:p>
        </p:txBody>
      </p:sp>
      <p:sp>
        <p:nvSpPr>
          <p:cNvPr id="9" name="Text 6"/>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10" name="Shape 7"/>
          <p:cNvSpPr/>
          <p:nvPr/>
        </p:nvSpPr>
        <p:spPr>
          <a:xfrm>
            <a:off x="2321509" y="6437376"/>
            <a:ext cx="1635709" cy="27432"/>
          </a:xfrm>
          <a:prstGeom prst="rect">
            <a:avLst/>
          </a:prstGeom>
          <a:solidFill>
            <a:srgbClr val="0097A7"/>
          </a:solidFill>
          <a:ln/>
        </p:spPr>
        <p:txBody>
          <a:bodyPr/>
          <a:lstStyle/>
          <a:p>
            <a:endParaRPr lang="en-US"/>
          </a:p>
        </p:txBody>
      </p:sp>
      <p:sp>
        <p:nvSpPr>
          <p:cNvPr id="11" name="Text 8"/>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State of the Art</a:t>
            </a:r>
            <a:endParaRPr lang="en-US" sz="850" dirty="0"/>
          </a:p>
        </p:txBody>
      </p:sp>
      <p:sp>
        <p:nvSpPr>
          <p:cNvPr id="12" name="Text 9"/>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3" name="Text 10"/>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4" name="Text 11"/>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5" name="Text 12"/>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6" name="Text 1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4 / 19</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3   THEORETICAL FOUNDATION AND ARCHITECTURE</a:t>
            </a:r>
            <a:endParaRPr lang="en-US" sz="1100" dirty="0"/>
          </a:p>
        </p:txBody>
      </p:sp>
      <p:sp>
        <p:nvSpPr>
          <p:cNvPr id="3" name="Text 1"/>
          <p:cNvSpPr/>
          <p:nvPr/>
        </p:nvSpPr>
        <p:spPr>
          <a:xfrm>
            <a:off x="640080" y="685800"/>
            <a:ext cx="82296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Face Encoder: ArcFace</a:t>
            </a:r>
            <a:endParaRPr lang="en-US" sz="24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sp>
        <p:nvSpPr>
          <p:cNvPr id="5" name="Text 3"/>
          <p:cNvSpPr/>
          <p:nvPr/>
        </p:nvSpPr>
        <p:spPr>
          <a:xfrm>
            <a:off x="640080" y="1600200"/>
            <a:ext cx="6309360" cy="301752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A1A"/>
                </a:solidFill>
              </a:rPr>
              <a:t>iResNet50 backbone, pretrained on VGGFace2, frozen. Deng et al. [6]. Pretrained on VGGFace2 [7].</a:t>
            </a:r>
            <a:endParaRPr lang="en-US" sz="1250" dirty="0"/>
          </a:p>
          <a:p>
            <a:pPr marL="342900" indent="-342900">
              <a:spcAft>
                <a:spcPts val="1000"/>
              </a:spcAft>
              <a:buSzPct val="100000"/>
              <a:buChar char="•"/>
            </a:pPr>
            <a:r>
              <a:rPr lang="en-US" sz="1250" dirty="0">
                <a:solidFill>
                  <a:srgbClr val="1A1A1A"/>
                </a:solidFill>
              </a:rPr>
              <a:t>Trained with Additive Angular Margin Loss, not standard softmax classification.</a:t>
            </a:r>
            <a:endParaRPr lang="en-US" sz="1250" dirty="0"/>
          </a:p>
          <a:p>
            <a:pPr marL="342900" indent="-342900">
              <a:spcAft>
                <a:spcPts val="1000"/>
              </a:spcAft>
              <a:buSzPct val="100000"/>
              <a:buChar char="•"/>
            </a:pPr>
            <a:r>
              <a:rPr lang="en-US" sz="1250" dirty="0">
                <a:solidFill>
                  <a:srgbClr val="1A1A1A"/>
                </a:solidFill>
              </a:rPr>
              <a:t>Embeddings are L2-normalized before the loss is computed, removing magnitude as a variable entirely.</a:t>
            </a:r>
            <a:endParaRPr lang="en-US" sz="1250" dirty="0"/>
          </a:p>
          <a:p>
            <a:pPr marL="342900" indent="-342900">
              <a:buSzPct val="100000"/>
              <a:buChar char="•"/>
            </a:pPr>
            <a:r>
              <a:rPr lang="en-US" sz="1250" b="1" dirty="0">
                <a:solidFill>
                  <a:srgbClr val="0E2A47"/>
                </a:solidFill>
              </a:rPr>
              <a:t>A fixed angular margin is added directly inside the loss, forcing identity separation to happen by angle, not by any other geometric shortcut.</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0" y="1600200"/>
          <a:ext cx="420624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1148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Urdu similarity</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VGG16 (softmax)</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0.0972</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ArcFace (final)</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0.4941</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41148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+408%</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5"/>
          <p:cNvSpPr/>
          <p:nvPr/>
        </p:nvSpPr>
        <p:spPr>
          <a:xfrm>
            <a:off x="640080" y="6437376"/>
            <a:ext cx="10088575" cy="10973"/>
          </a:xfrm>
          <a:prstGeom prst="rect">
            <a:avLst/>
          </a:prstGeom>
          <a:solidFill>
            <a:srgbClr val="C7CDD3"/>
          </a:solidFill>
          <a:ln/>
        </p:spPr>
        <p:txBody>
          <a:bodyPr/>
          <a:lstStyle/>
          <a:p>
            <a:endParaRPr lang="en-US"/>
          </a:p>
        </p:txBody>
      </p:sp>
      <p:sp>
        <p:nvSpPr>
          <p:cNvPr id="9" name="Text 6"/>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10" name="Text 7"/>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1" name="Shape 8"/>
          <p:cNvSpPr/>
          <p:nvPr/>
        </p:nvSpPr>
        <p:spPr>
          <a:xfrm>
            <a:off x="4002938" y="6437376"/>
            <a:ext cx="1635709" cy="27432"/>
          </a:xfrm>
          <a:prstGeom prst="rect">
            <a:avLst/>
          </a:prstGeom>
          <a:solidFill>
            <a:srgbClr val="0097A7"/>
          </a:solidFill>
          <a:ln/>
        </p:spPr>
        <p:txBody>
          <a:bodyPr/>
          <a:lstStyle/>
          <a:p>
            <a:endParaRPr lang="en-US"/>
          </a:p>
        </p:txBody>
      </p:sp>
      <p:sp>
        <p:nvSpPr>
          <p:cNvPr id="12" name="Text 9"/>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Theoretical Foundation</a:t>
            </a:r>
            <a:endParaRPr lang="en-US" sz="850" dirty="0"/>
          </a:p>
        </p:txBody>
      </p:sp>
      <p:sp>
        <p:nvSpPr>
          <p:cNvPr id="13" name="Text 10"/>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4" name="Text 11"/>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5" name="Text 12"/>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6" name="Text 1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5 / 19</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3   THEORETICAL FOUNDATION AND ARCHITECTURE</a:t>
            </a:r>
            <a:endParaRPr lang="en-US" sz="1100" dirty="0"/>
          </a:p>
        </p:txBody>
      </p:sp>
      <p:sp>
        <p:nvSpPr>
          <p:cNvPr id="3" name="Text 1"/>
          <p:cNvSpPr/>
          <p:nvPr/>
        </p:nvSpPr>
        <p:spPr>
          <a:xfrm>
            <a:off x="640080" y="685800"/>
            <a:ext cx="86868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Voice Encoder: ECAPA-TDNN</a:t>
            </a:r>
            <a:endParaRPr lang="en-US" sz="24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sp>
        <p:nvSpPr>
          <p:cNvPr id="5" name="Text 3"/>
          <p:cNvSpPr/>
          <p:nvPr/>
        </p:nvSpPr>
        <p:spPr>
          <a:xfrm>
            <a:off x="640080" y="1600200"/>
            <a:ext cx="6309360" cy="301752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A1A"/>
                </a:solidFill>
              </a:rPr>
              <a:t>Pretrained on VoxCeleb1+2, frozen. Desplanques et al. [8], VoxCeleb [9].</a:t>
            </a:r>
            <a:endParaRPr lang="en-US" sz="1250" dirty="0"/>
          </a:p>
          <a:p>
            <a:pPr marL="342900" indent="-342900">
              <a:spcAft>
                <a:spcPts val="1000"/>
              </a:spcAft>
              <a:buSzPct val="100000"/>
              <a:buChar char="•"/>
            </a:pPr>
            <a:r>
              <a:rPr lang="en-US" sz="1250" dirty="0">
                <a:solidFill>
                  <a:srgbClr val="1A1A1A"/>
                </a:solidFill>
              </a:rPr>
              <a:t>SE-Res2Blocks: multi-scale temporal convolutions with squeeze-and-excitation channel attention [10][11].</a:t>
            </a:r>
            <a:endParaRPr lang="en-US" sz="1250" dirty="0"/>
          </a:p>
          <a:p>
            <a:pPr marL="342900" indent="-342900">
              <a:spcAft>
                <a:spcPts val="1000"/>
              </a:spcAft>
              <a:buSzPct val="100000"/>
              <a:buChar char="•"/>
            </a:pPr>
            <a:r>
              <a:rPr lang="en-US" sz="1250" dirty="0">
                <a:solidFill>
                  <a:srgbClr val="1A1A1A"/>
                </a:solidFill>
              </a:rPr>
              <a:t>Attentive Statistics Pooling replaces simple averaging with a learned, per-frame weighting [12].</a:t>
            </a:r>
            <a:endParaRPr lang="en-US" sz="1250" dirty="0"/>
          </a:p>
          <a:p>
            <a:pPr marL="342900" indent="-342900">
              <a:buSzPct val="100000"/>
              <a:buChar char="•"/>
            </a:pPr>
            <a:r>
              <a:rPr lang="en-US" sz="1250" b="1" dirty="0">
                <a:solidFill>
                  <a:srgbClr val="0E2A47"/>
                </a:solidFill>
              </a:rPr>
              <a:t>Trained with AAM-Softmax, the same angular-margin family of loss as ArcFace.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0" y="1600200"/>
          <a:ext cx="420624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1148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Romanian similarity</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ResNet18 (repurposed)</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0.1377</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ECAPA-TDNN (final)</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200" dirty="0">
                          <a:solidFill>
                            <a:srgbClr val="1A1A1A"/>
                          </a:solidFill>
                          <a:latin typeface="Calibri" pitchFamily="34" charset="0"/>
                          <a:ea typeface="Calibri" pitchFamily="34" charset="-122"/>
                          <a:cs typeface="Calibri" pitchFamily="34" charset="-120"/>
                        </a:rPr>
                        <a:t>0.2532</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41148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A1A"/>
                          </a:solidFill>
                          <a:latin typeface="Calibri" pitchFamily="34" charset="0"/>
                          <a:ea typeface="Calibri" pitchFamily="34" charset="-122"/>
                          <a:cs typeface="Calibri" pitchFamily="34" charset="-120"/>
                        </a:rPr>
                        <a:t>+65%</a:t>
                      </a:r>
                      <a:endParaRPr lang="en-US" sz="12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4"/>
          <p:cNvSpPr/>
          <p:nvPr/>
        </p:nvSpPr>
        <p:spPr>
          <a:xfrm>
            <a:off x="640080" y="6437376"/>
            <a:ext cx="10088575" cy="10973"/>
          </a:xfrm>
          <a:prstGeom prst="rect">
            <a:avLst/>
          </a:prstGeom>
          <a:solidFill>
            <a:srgbClr val="C7CDD3"/>
          </a:solidFill>
          <a:ln/>
        </p:spPr>
        <p:txBody>
          <a:bodyPr/>
          <a:lstStyle/>
          <a:p>
            <a:endParaRPr lang="en-US"/>
          </a:p>
        </p:txBody>
      </p:sp>
      <p:sp>
        <p:nvSpPr>
          <p:cNvPr id="8" name="Text 5"/>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9" name="Text 6"/>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0" name="Shape 7"/>
          <p:cNvSpPr/>
          <p:nvPr/>
        </p:nvSpPr>
        <p:spPr>
          <a:xfrm>
            <a:off x="4002938" y="6437376"/>
            <a:ext cx="1635709" cy="27432"/>
          </a:xfrm>
          <a:prstGeom prst="rect">
            <a:avLst/>
          </a:prstGeom>
          <a:solidFill>
            <a:srgbClr val="0097A7"/>
          </a:solidFill>
          <a:ln/>
        </p:spPr>
        <p:txBody>
          <a:bodyPr/>
          <a:lstStyle/>
          <a:p>
            <a:endParaRPr lang="en-US"/>
          </a:p>
        </p:txBody>
      </p:sp>
      <p:sp>
        <p:nvSpPr>
          <p:cNvPr id="11" name="Text 8"/>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Theoretical Foundation</a:t>
            </a:r>
            <a:endParaRPr lang="en-US" sz="850" dirty="0"/>
          </a:p>
        </p:txBody>
      </p:sp>
      <p:sp>
        <p:nvSpPr>
          <p:cNvPr id="12" name="Text 9"/>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3" name="Text 10"/>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4" name="Text 11"/>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5"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6 / 19</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3   THEORETICAL FOUNDATION AND ARCHITECTURE</a:t>
            </a:r>
            <a:endParaRPr lang="en-US" sz="1100" dirty="0"/>
          </a:p>
        </p:txBody>
      </p:sp>
      <p:sp>
        <p:nvSpPr>
          <p:cNvPr id="3" name="Text 1"/>
          <p:cNvSpPr/>
          <p:nvPr/>
        </p:nvSpPr>
        <p:spPr>
          <a:xfrm>
            <a:off x="640080" y="685800"/>
            <a:ext cx="86868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Shared Embedding Space</a:t>
            </a:r>
            <a:endParaRPr lang="en-US" sz="24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sp>
        <p:nvSpPr>
          <p:cNvPr id="7" name="Shape 4"/>
          <p:cNvSpPr/>
          <p:nvPr/>
        </p:nvSpPr>
        <p:spPr>
          <a:xfrm>
            <a:off x="640080" y="6437376"/>
            <a:ext cx="10088575" cy="10973"/>
          </a:xfrm>
          <a:prstGeom prst="rect">
            <a:avLst/>
          </a:prstGeom>
          <a:solidFill>
            <a:srgbClr val="C7CDD3"/>
          </a:solidFill>
          <a:ln/>
        </p:spPr>
        <p:txBody>
          <a:bodyPr/>
          <a:lstStyle/>
          <a:p>
            <a:endParaRPr lang="en-US"/>
          </a:p>
        </p:txBody>
      </p:sp>
      <p:sp>
        <p:nvSpPr>
          <p:cNvPr id="6" name="Text 5"/>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9" name="Text 6"/>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0" name="Shape 7"/>
          <p:cNvSpPr/>
          <p:nvPr/>
        </p:nvSpPr>
        <p:spPr>
          <a:xfrm>
            <a:off x="4002938" y="6437376"/>
            <a:ext cx="1635709" cy="27432"/>
          </a:xfrm>
          <a:prstGeom prst="rect">
            <a:avLst/>
          </a:prstGeom>
          <a:solidFill>
            <a:srgbClr val="0097A7"/>
          </a:solidFill>
          <a:ln/>
        </p:spPr>
        <p:txBody>
          <a:bodyPr/>
          <a:lstStyle/>
          <a:p>
            <a:endParaRPr lang="en-US"/>
          </a:p>
        </p:txBody>
      </p:sp>
      <p:sp>
        <p:nvSpPr>
          <p:cNvPr id="11" name="Text 8"/>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Theoretical Foundation</a:t>
            </a:r>
            <a:endParaRPr lang="en-US" sz="850" dirty="0"/>
          </a:p>
        </p:txBody>
      </p:sp>
      <p:sp>
        <p:nvSpPr>
          <p:cNvPr id="12" name="Text 9"/>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3" name="Text 10"/>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4" name="Text 11"/>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5"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7 / 19</a:t>
            </a:r>
            <a:endParaRPr lang="en-US" sz="1050" dirty="0"/>
          </a:p>
        </p:txBody>
      </p:sp>
      <p:sp>
        <p:nvSpPr>
          <p:cNvPr id="16" name="TextBox 15"/>
          <p:cNvSpPr txBox="1"/>
          <p:nvPr/>
        </p:nvSpPr>
        <p:spPr>
          <a:xfrm>
            <a:off x="640080" y="1600200"/>
            <a:ext cx="6309360" cy="461665"/>
          </a:xfrm>
          <a:prstGeom prst="rect">
            <a:avLst/>
          </a:prstGeom>
          <a:noFill/>
        </p:spPr>
        <p:txBody>
          <a:bodyPr wrap="square">
            <a:spAutoFit/>
          </a:bodyPr>
          <a:lstStyle/>
          <a:p>
            <a:r>
              <a:rPr sz="1200" dirty="0">
                <a:solidFill>
                  <a:srgbClr val="1A1A1A"/>
                </a:solidFill>
                <a:latin typeface="Calibri"/>
              </a:rPr>
              <a:t>Face (512-D) and voice (192-D) embeddings live in different, incompatible spaces. Two small trainable networks, the Modality Translators, project both into one shared 512-D space.</a:t>
            </a:r>
          </a:p>
        </p:txBody>
      </p:sp>
      <p:sp>
        <p:nvSpPr>
          <p:cNvPr id="18" name="TextBox 17"/>
          <p:cNvSpPr txBox="1"/>
          <p:nvPr/>
        </p:nvSpPr>
        <p:spPr>
          <a:xfrm>
            <a:off x="640080" y="2197645"/>
            <a:ext cx="6309360" cy="457200"/>
          </a:xfrm>
          <a:prstGeom prst="rect">
            <a:avLst/>
          </a:prstGeom>
          <a:noFill/>
        </p:spPr>
        <p:txBody>
          <a:bodyPr wrap="square">
            <a:spAutoFit/>
          </a:bodyPr>
          <a:lstStyle/>
          <a:p>
            <a:r>
              <a:rPr sz="1150" dirty="0">
                <a:solidFill>
                  <a:srgbClr val="1A1A1A"/>
                </a:solidFill>
                <a:latin typeface="Calibri"/>
              </a:rPr>
              <a:t>Range [-1, +1], depends only on angle; magnitude is cancelled entirely.</a:t>
            </a:r>
          </a:p>
        </p:txBody>
      </p:sp>
      <p:sp>
        <p:nvSpPr>
          <p:cNvPr id="19" name="TextBox 18"/>
          <p:cNvSpPr txBox="1"/>
          <p:nvPr/>
        </p:nvSpPr>
        <p:spPr>
          <a:xfrm>
            <a:off x="640080" y="2784111"/>
            <a:ext cx="6309360" cy="1463040"/>
          </a:xfrm>
          <a:prstGeom prst="rect">
            <a:avLst/>
          </a:prstGeom>
          <a:noFill/>
        </p:spPr>
        <p:txBody>
          <a:bodyPr wrap="square">
            <a:spAutoFit/>
          </a:bodyPr>
          <a:lstStyle/>
          <a:p>
            <a:r>
              <a:rPr sz="1300" b="1" dirty="0">
                <a:solidFill>
                  <a:srgbClr val="8A3324"/>
                </a:solidFill>
                <a:latin typeface="Calibri"/>
              </a:rPr>
              <a:t>The condition this depends on:</a:t>
            </a:r>
          </a:p>
          <a:p>
            <a:pPr>
              <a:spcBef>
                <a:spcPts val="400"/>
              </a:spcBef>
            </a:pPr>
            <a:r>
              <a:rPr sz="1150" dirty="0">
                <a:solidFill>
                  <a:srgbClr val="1A1A1A"/>
                </a:solidFill>
                <a:latin typeface="Calibri"/>
              </a:rPr>
              <a:t>Cosine similarity is meaningful only if the encoder's own training forces identity information into direction. Angular margin training guarantees this, by construction; standard classification training does not.</a:t>
            </a:r>
          </a:p>
        </p:txBody>
      </p:sp>
      <p:graphicFrame>
        <p:nvGraphicFramePr>
          <p:cNvPr id="20" name="Table 19"/>
          <p:cNvGraphicFramePr>
            <a:graphicFrameLocks noGrp="1"/>
          </p:cNvGraphicFramePr>
          <p:nvPr/>
        </p:nvGraphicFramePr>
        <p:xfrm>
          <a:off x="7315200" y="1600200"/>
          <a:ext cx="4206240" cy="14630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292608">
                <a:tc>
                  <a:txBody>
                    <a:bodyPr/>
                    <a:lstStyle/>
                    <a:p>
                      <a:pPr algn="l"/>
                      <a:r>
                        <a:rPr sz="950" b="1">
                          <a:solidFill>
                            <a:srgbClr val="FFFFFF"/>
                          </a:solidFill>
                          <a:latin typeface="Calibri"/>
                        </a:rPr>
                        <a:t>Translators</a:t>
                      </a:r>
                    </a:p>
                  </a:txBody>
                  <a:tcPr marL="45720" marR="45720" marT="9144" marB="9144" anchor="ctr">
                    <a:solidFill>
                      <a:srgbClr val="0E2A47"/>
                    </a:solidFill>
                  </a:tcPr>
                </a:tc>
                <a:tc>
                  <a:txBody>
                    <a:bodyPr/>
                    <a:lstStyle/>
                    <a:p>
                      <a:pPr algn="ctr"/>
                      <a:r>
                        <a:rPr sz="950" b="1">
                          <a:solidFill>
                            <a:srgbClr val="FFFFFF"/>
                          </a:solidFill>
                          <a:latin typeface="Calibri"/>
                        </a:rPr>
                        <a:t>Value</a:t>
                      </a:r>
                    </a:p>
                  </a:txBody>
                  <a:tcPr marL="45720" marR="45720" marT="9144" marB="9144" anchor="ctr">
                    <a:solidFill>
                      <a:srgbClr val="0E2A47"/>
                    </a:solidFill>
                  </a:tcPr>
                </a:tc>
                <a:extLst>
                  <a:ext uri="{0D108BD9-81ED-4DB2-BD59-A6C34878D82A}">
                    <a16:rowId xmlns:a16="http://schemas.microsoft.com/office/drawing/2014/main" val="10000"/>
                  </a:ext>
                </a:extLst>
              </a:tr>
              <a:tr h="292608">
                <a:tc>
                  <a:txBody>
                    <a:bodyPr/>
                    <a:lstStyle/>
                    <a:p>
                      <a:pPr algn="l"/>
                      <a:r>
                        <a:rPr sz="950" b="0">
                          <a:solidFill>
                            <a:srgbClr val="1A1A1A"/>
                          </a:solidFill>
                          <a:latin typeface="Calibri"/>
                        </a:rPr>
                        <a:t>Face / Voice dims</a:t>
                      </a:r>
                    </a:p>
                  </a:txBody>
                  <a:tcPr marL="45720" marR="45720" marT="9144" marB="9144" anchor="ctr">
                    <a:solidFill>
                      <a:srgbClr val="FFFFFF"/>
                    </a:solidFill>
                  </a:tcPr>
                </a:tc>
                <a:tc>
                  <a:txBody>
                    <a:bodyPr/>
                    <a:lstStyle/>
                    <a:p>
                      <a:pPr algn="ctr"/>
                      <a:r>
                        <a:rPr sz="950" b="0">
                          <a:solidFill>
                            <a:srgbClr val="1A1A1A"/>
                          </a:solidFill>
                          <a:latin typeface="Calibri"/>
                        </a:rPr>
                        <a:t>512, 192 -&gt; 256 -&gt; 512</a:t>
                      </a:r>
                    </a:p>
                  </a:txBody>
                  <a:tcPr marL="45720" marR="45720" marT="9144" marB="9144" anchor="ctr">
                    <a:solidFill>
                      <a:srgbClr val="FFFFFF"/>
                    </a:solidFill>
                  </a:tcPr>
                </a:tc>
                <a:extLst>
                  <a:ext uri="{0D108BD9-81ED-4DB2-BD59-A6C34878D82A}">
                    <a16:rowId xmlns:a16="http://schemas.microsoft.com/office/drawing/2014/main" val="10001"/>
                  </a:ext>
                </a:extLst>
              </a:tr>
              <a:tr h="292608">
                <a:tc>
                  <a:txBody>
                    <a:bodyPr/>
                    <a:lstStyle/>
                    <a:p>
                      <a:pPr algn="l"/>
                      <a:r>
                        <a:rPr sz="950" b="0">
                          <a:solidFill>
                            <a:srgbClr val="1A1A1A"/>
                          </a:solidFill>
                          <a:latin typeface="Calibri"/>
                        </a:rPr>
                        <a:t>Dropout</a:t>
                      </a:r>
                    </a:p>
                  </a:txBody>
                  <a:tcPr marL="45720" marR="45720" marT="9144" marB="9144" anchor="ctr">
                    <a:solidFill>
                      <a:srgbClr val="F2F4F6"/>
                    </a:solidFill>
                  </a:tcPr>
                </a:tc>
                <a:tc>
                  <a:txBody>
                    <a:bodyPr/>
                    <a:lstStyle/>
                    <a:p>
                      <a:pPr algn="ctr"/>
                      <a:r>
                        <a:rPr sz="950" b="0" dirty="0">
                          <a:solidFill>
                            <a:srgbClr val="1A1A1A"/>
                          </a:solidFill>
                          <a:latin typeface="Calibri"/>
                        </a:rPr>
                        <a:t>0.3</a:t>
                      </a:r>
                    </a:p>
                  </a:txBody>
                  <a:tcPr marL="45720" marR="45720" marT="9144" marB="9144" anchor="ctr">
                    <a:solidFill>
                      <a:srgbClr val="F2F4F6"/>
                    </a:solidFill>
                  </a:tcPr>
                </a:tc>
                <a:extLst>
                  <a:ext uri="{0D108BD9-81ED-4DB2-BD59-A6C34878D82A}">
                    <a16:rowId xmlns:a16="http://schemas.microsoft.com/office/drawing/2014/main" val="10002"/>
                  </a:ext>
                </a:extLst>
              </a:tr>
              <a:tr h="292608">
                <a:tc>
                  <a:txBody>
                    <a:bodyPr/>
                    <a:lstStyle/>
                    <a:p>
                      <a:pPr algn="l"/>
                      <a:r>
                        <a:rPr sz="950" b="0">
                          <a:solidFill>
                            <a:srgbClr val="1A1A1A"/>
                          </a:solidFill>
                          <a:latin typeface="Calibri"/>
                        </a:rPr>
                        <a:t>Activation</a:t>
                      </a:r>
                    </a:p>
                  </a:txBody>
                  <a:tcPr marL="45720" marR="45720" marT="9144" marB="9144" anchor="ctr">
                    <a:solidFill>
                      <a:srgbClr val="FFFFFF"/>
                    </a:solidFill>
                  </a:tcPr>
                </a:tc>
                <a:tc>
                  <a:txBody>
                    <a:bodyPr/>
                    <a:lstStyle/>
                    <a:p>
                      <a:pPr algn="ctr"/>
                      <a:r>
                        <a:rPr sz="950" b="0" dirty="0" err="1">
                          <a:solidFill>
                            <a:srgbClr val="1A1A1A"/>
                          </a:solidFill>
                          <a:latin typeface="Calibri"/>
                        </a:rPr>
                        <a:t>ReLU</a:t>
                      </a:r>
                      <a:r>
                        <a:rPr sz="950" b="0" dirty="0">
                          <a:solidFill>
                            <a:srgbClr val="1A1A1A"/>
                          </a:solidFill>
                          <a:latin typeface="Calibri"/>
                        </a:rPr>
                        <a:t>, </a:t>
                      </a:r>
                      <a:r>
                        <a:rPr sz="950" b="0" dirty="0" err="1">
                          <a:solidFill>
                            <a:srgbClr val="1A1A1A"/>
                          </a:solidFill>
                          <a:latin typeface="Calibri"/>
                        </a:rPr>
                        <a:t>LeakyReLU</a:t>
                      </a:r>
                      <a:r>
                        <a:rPr sz="950" b="0" dirty="0">
                          <a:solidFill>
                            <a:srgbClr val="1A1A1A"/>
                          </a:solidFill>
                          <a:latin typeface="Calibri"/>
                        </a:rPr>
                        <a:t>(0.2)</a:t>
                      </a:r>
                    </a:p>
                  </a:txBody>
                  <a:tcPr marL="45720" marR="45720" marT="9144" marB="9144" anchor="ctr">
                    <a:solidFill>
                      <a:srgbClr val="FFFFFF"/>
                    </a:solidFill>
                  </a:tcPr>
                </a:tc>
                <a:extLst>
                  <a:ext uri="{0D108BD9-81ED-4DB2-BD59-A6C34878D82A}">
                    <a16:rowId xmlns:a16="http://schemas.microsoft.com/office/drawing/2014/main" val="10003"/>
                  </a:ext>
                </a:extLst>
              </a:tr>
              <a:tr h="292608">
                <a:tc>
                  <a:txBody>
                    <a:bodyPr/>
                    <a:lstStyle/>
                    <a:p>
                      <a:pPr algn="l"/>
                      <a:r>
                        <a:rPr sz="950" b="0">
                          <a:solidFill>
                            <a:srgbClr val="1A1A1A"/>
                          </a:solidFill>
                          <a:latin typeface="Calibri"/>
                        </a:rPr>
                        <a:t>Output</a:t>
                      </a:r>
                    </a:p>
                  </a:txBody>
                  <a:tcPr marL="45720" marR="45720" marT="9144" marB="9144" anchor="ctr">
                    <a:solidFill>
                      <a:srgbClr val="F2F4F6"/>
                    </a:solidFill>
                  </a:tcPr>
                </a:tc>
                <a:tc>
                  <a:txBody>
                    <a:bodyPr/>
                    <a:lstStyle/>
                    <a:p>
                      <a:pPr algn="ctr"/>
                      <a:r>
                        <a:rPr sz="950" b="0" dirty="0">
                          <a:solidFill>
                            <a:srgbClr val="1A1A1A"/>
                          </a:solidFill>
                          <a:latin typeface="Calibri"/>
                        </a:rPr>
                        <a:t>L2-normalized</a:t>
                      </a:r>
                    </a:p>
                  </a:txBody>
                  <a:tcPr marL="45720" marR="45720" marT="9144" marB="9144" anchor="ctr">
                    <a:solidFill>
                      <a:srgbClr val="F2F4F6"/>
                    </a:solidFill>
                  </a:tcPr>
                </a:tc>
                <a:extLst>
                  <a:ext uri="{0D108BD9-81ED-4DB2-BD59-A6C34878D82A}">
                    <a16:rowId xmlns:a16="http://schemas.microsoft.com/office/drawing/2014/main" val="10004"/>
                  </a:ext>
                </a:extLst>
              </a:tr>
            </a:tbl>
          </a:graphicData>
        </a:graphic>
      </p:graphicFrame>
      <p:graphicFrame>
        <p:nvGraphicFramePr>
          <p:cNvPr id="21" name="Table 20"/>
          <p:cNvGraphicFramePr>
            <a:graphicFrameLocks noGrp="1"/>
          </p:cNvGraphicFramePr>
          <p:nvPr/>
        </p:nvGraphicFramePr>
        <p:xfrm>
          <a:off x="7315200" y="3246120"/>
          <a:ext cx="4206240" cy="1005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35280">
                <a:tc>
                  <a:txBody>
                    <a:bodyPr/>
                    <a:lstStyle/>
                    <a:p>
                      <a:pPr algn="l"/>
                      <a:r>
                        <a:rPr sz="950" b="1">
                          <a:solidFill>
                            <a:srgbClr val="FFFFFF"/>
                          </a:solidFill>
                          <a:latin typeface="Calibri"/>
                        </a:rPr>
                        <a:t>Encoder training</a:t>
                      </a:r>
                    </a:p>
                  </a:txBody>
                  <a:tcPr marL="45720" marR="45720" marT="9144" marB="9144" anchor="ctr">
                    <a:solidFill>
                      <a:srgbClr val="0E2A47"/>
                    </a:solidFill>
                  </a:tcPr>
                </a:tc>
                <a:tc>
                  <a:txBody>
                    <a:bodyPr/>
                    <a:lstStyle/>
                    <a:p>
                      <a:pPr algn="ctr"/>
                      <a:r>
                        <a:rPr sz="950" b="1">
                          <a:solidFill>
                            <a:srgbClr val="FFFFFF"/>
                          </a:solidFill>
                          <a:latin typeface="Calibri"/>
                        </a:rPr>
                        <a:t>Angle = identity</a:t>
                      </a:r>
                    </a:p>
                  </a:txBody>
                  <a:tcPr marL="45720" marR="45720" marT="9144" marB="9144" anchor="ctr">
                    <a:solidFill>
                      <a:srgbClr val="0E2A47"/>
                    </a:solidFill>
                  </a:tcPr>
                </a:tc>
                <a:extLst>
                  <a:ext uri="{0D108BD9-81ED-4DB2-BD59-A6C34878D82A}">
                    <a16:rowId xmlns:a16="http://schemas.microsoft.com/office/drawing/2014/main" val="10000"/>
                  </a:ext>
                </a:extLst>
              </a:tr>
              <a:tr h="335280">
                <a:tc>
                  <a:txBody>
                    <a:bodyPr/>
                    <a:lstStyle/>
                    <a:p>
                      <a:pPr algn="l"/>
                      <a:r>
                        <a:rPr sz="950" b="0">
                          <a:solidFill>
                            <a:srgbClr val="1A1A1A"/>
                          </a:solidFill>
                          <a:latin typeface="Calibri"/>
                        </a:rPr>
                        <a:t>Softmax (VGG16, ResNet18)</a:t>
                      </a:r>
                    </a:p>
                  </a:txBody>
                  <a:tcPr marL="45720" marR="45720" marT="9144" marB="9144" anchor="ctr">
                    <a:solidFill>
                      <a:srgbClr val="FFFFFF"/>
                    </a:solidFill>
                  </a:tcPr>
                </a:tc>
                <a:tc>
                  <a:txBody>
                    <a:bodyPr/>
                    <a:lstStyle/>
                    <a:p>
                      <a:pPr algn="ctr"/>
                      <a:r>
                        <a:rPr sz="950" b="0">
                          <a:solidFill>
                            <a:srgbClr val="1A1A1A"/>
                          </a:solidFill>
                          <a:latin typeface="Calibri"/>
                        </a:rPr>
                        <a:t>No</a:t>
                      </a:r>
                    </a:p>
                  </a:txBody>
                  <a:tcPr marL="45720" marR="45720" marT="9144" marB="9144" anchor="ctr">
                    <a:solidFill>
                      <a:srgbClr val="FFFFFF"/>
                    </a:solidFill>
                  </a:tcPr>
                </a:tc>
                <a:extLst>
                  <a:ext uri="{0D108BD9-81ED-4DB2-BD59-A6C34878D82A}">
                    <a16:rowId xmlns:a16="http://schemas.microsoft.com/office/drawing/2014/main" val="10001"/>
                  </a:ext>
                </a:extLst>
              </a:tr>
              <a:tr h="335280">
                <a:tc>
                  <a:txBody>
                    <a:bodyPr/>
                    <a:lstStyle/>
                    <a:p>
                      <a:pPr algn="l"/>
                      <a:r>
                        <a:rPr sz="950" b="0">
                          <a:solidFill>
                            <a:srgbClr val="1A1A1A"/>
                          </a:solidFill>
                          <a:latin typeface="Calibri"/>
                        </a:rPr>
                        <a:t>Angular margin (ArcFace, ECAPA)</a:t>
                      </a:r>
                    </a:p>
                  </a:txBody>
                  <a:tcPr marL="45720" marR="45720" marT="9144" marB="9144" anchor="ctr">
                    <a:solidFill>
                      <a:srgbClr val="F2F4F6"/>
                    </a:solidFill>
                  </a:tcPr>
                </a:tc>
                <a:tc>
                  <a:txBody>
                    <a:bodyPr/>
                    <a:lstStyle/>
                    <a:p>
                      <a:pPr algn="ctr"/>
                      <a:r>
                        <a:rPr sz="950" b="0">
                          <a:solidFill>
                            <a:srgbClr val="1A1A1A"/>
                          </a:solidFill>
                          <a:latin typeface="Calibri"/>
                        </a:rPr>
                        <a:t>Yes</a:t>
                      </a:r>
                    </a:p>
                  </a:txBody>
                  <a:tcPr marL="45720" marR="45720" marT="9144" marB="9144" anchor="ctr">
                    <a:solidFill>
                      <a:srgbClr val="F2F4F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3   THEORETICAL FOUNDATION AND ARCHITECTURE</a:t>
            </a:r>
            <a:endParaRPr lang="en-US" sz="1100" dirty="0"/>
          </a:p>
        </p:txBody>
      </p:sp>
      <p:sp>
        <p:nvSpPr>
          <p:cNvPr id="3" name="Text 1"/>
          <p:cNvSpPr/>
          <p:nvPr/>
        </p:nvSpPr>
        <p:spPr>
          <a:xfrm>
            <a:off x="640080" y="685800"/>
            <a:ext cx="7315200" cy="457200"/>
          </a:xfrm>
          <a:prstGeom prst="rect">
            <a:avLst/>
          </a:prstGeom>
          <a:noFill/>
          <a:ln/>
        </p:spPr>
        <p:txBody>
          <a:bodyPr wrap="square" lIns="0" tIns="0" rIns="0" bIns="0" rtlCol="0" anchor="ctr"/>
          <a:lstStyle/>
          <a:p>
            <a:pPr marL="0" indent="0">
              <a:buNone/>
            </a:pPr>
            <a:r>
              <a:rPr lang="en-US" sz="2300" b="1" dirty="0">
                <a:solidFill>
                  <a:srgbClr val="1A1A1A"/>
                </a:solidFill>
                <a:latin typeface="Cambria" pitchFamily="34" charset="0"/>
                <a:ea typeface="Cambria" pitchFamily="34" charset="-122"/>
                <a:cs typeface="Cambria" pitchFamily="34" charset="-120"/>
              </a:rPr>
              <a:t>Loss Functions</a:t>
            </a:r>
            <a:endParaRPr lang="en-US" sz="23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2514600"/>
        </p:xfrm>
        <a:graphic>
          <a:graphicData uri="http://schemas.openxmlformats.org/drawingml/2006/table">
            <a:tbl>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5029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Loss</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Mechanism</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Applied to</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Temperature</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502920">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InfoNCE [13] (weight 10.0)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Correct voice must outscore all others in-batch</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Translator outputs, pre-fusion</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Cross-Entropy (weight 1.0)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Classifies fused embedding into 198 identities</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Fused output</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502920">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OPL [1] (baseline)</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Different identities pushed toward a 90 degree angle</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Fused output</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SupCon [14] (weight 0.5)</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Same identity pulled together, others pushed apart</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Fused output</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bl>
          </a:graphicData>
        </a:graphic>
      </p:graphicFrame>
      <p:sp>
        <p:nvSpPr>
          <p:cNvPr id="6" name="Text 3"/>
          <p:cNvSpPr/>
          <p:nvPr/>
        </p:nvSpPr>
        <p:spPr>
          <a:xfrm>
            <a:off x="640079" y="4160520"/>
            <a:ext cx="10881360" cy="77724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SupCon needed scale to be better: at 64 identities, batches often held one example per person, so the pull-together term had nothing to act on and OPL performed better. At 198 multilingual identities, batches reliably contained same-identity pairs, and SupCon overtook OPL.</a:t>
            </a:r>
            <a:endParaRPr lang="en-US" sz="1200" dirty="0"/>
          </a:p>
        </p:txBody>
      </p:sp>
      <p:sp>
        <p:nvSpPr>
          <p:cNvPr id="7" name="Shape 4"/>
          <p:cNvSpPr/>
          <p:nvPr/>
        </p:nvSpPr>
        <p:spPr>
          <a:xfrm>
            <a:off x="640080" y="6437376"/>
            <a:ext cx="10088575" cy="10973"/>
          </a:xfrm>
          <a:prstGeom prst="rect">
            <a:avLst/>
          </a:prstGeom>
          <a:solidFill>
            <a:srgbClr val="C7CDD3"/>
          </a:solidFill>
          <a:ln/>
        </p:spPr>
        <p:txBody>
          <a:bodyPr/>
          <a:lstStyle/>
          <a:p>
            <a:endParaRPr lang="en-US"/>
          </a:p>
        </p:txBody>
      </p:sp>
      <p:sp>
        <p:nvSpPr>
          <p:cNvPr id="8" name="Text 5"/>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9" name="Text 6"/>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0" name="Shape 7"/>
          <p:cNvSpPr/>
          <p:nvPr/>
        </p:nvSpPr>
        <p:spPr>
          <a:xfrm>
            <a:off x="4002938" y="6437376"/>
            <a:ext cx="1635709" cy="27432"/>
          </a:xfrm>
          <a:prstGeom prst="rect">
            <a:avLst/>
          </a:prstGeom>
          <a:solidFill>
            <a:srgbClr val="0097A7"/>
          </a:solidFill>
          <a:ln/>
        </p:spPr>
        <p:txBody>
          <a:bodyPr/>
          <a:lstStyle/>
          <a:p>
            <a:endParaRPr lang="en-US"/>
          </a:p>
        </p:txBody>
      </p:sp>
      <p:sp>
        <p:nvSpPr>
          <p:cNvPr id="11" name="Text 8"/>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Theoretical Foundation</a:t>
            </a:r>
            <a:endParaRPr lang="en-US" sz="850" dirty="0"/>
          </a:p>
        </p:txBody>
      </p:sp>
      <p:sp>
        <p:nvSpPr>
          <p:cNvPr id="5" name="Text 9"/>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3" name="Text 10"/>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4" name="Text 11"/>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5"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8 / 19</a:t>
            </a:r>
            <a:endParaRPr lang="en-US" sz="1050" dirty="0"/>
          </a:p>
        </p:txBody>
      </p:sp>
      <p:pic>
        <p:nvPicPr>
          <p:cNvPr id="16" name="Picture 15" descr="image.png"/>
          <p:cNvPicPr>
            <a:picLocks noChangeAspect="1"/>
          </p:cNvPicPr>
          <p:nvPr/>
        </p:nvPicPr>
        <p:blipFill>
          <a:blip r:embed="rId3"/>
          <a:stretch>
            <a:fillRect/>
          </a:stretch>
        </p:blipFill>
        <p:spPr>
          <a:xfrm>
            <a:off x="640080" y="4828032"/>
            <a:ext cx="1445734" cy="384048"/>
          </a:xfrm>
          <a:prstGeom prst="rect">
            <a:avLst/>
          </a:prstGeom>
        </p:spPr>
      </p:pic>
      <p:sp>
        <p:nvSpPr>
          <p:cNvPr id="17" name="TextBox 16"/>
          <p:cNvSpPr txBox="1"/>
          <p:nvPr/>
        </p:nvSpPr>
        <p:spPr>
          <a:xfrm>
            <a:off x="2312700" y="4828032"/>
            <a:ext cx="9208739" cy="384048"/>
          </a:xfrm>
          <a:prstGeom prst="rect">
            <a:avLst/>
          </a:prstGeom>
          <a:noFill/>
        </p:spPr>
        <p:txBody>
          <a:bodyPr wrap="square">
            <a:spAutoFit/>
          </a:bodyPr>
          <a:lstStyle/>
          <a:p>
            <a:r>
              <a:rPr sz="1000">
                <a:solidFill>
                  <a:srgbClr val="5A6672"/>
                </a:solidFill>
                <a:latin typeface="Calibri"/>
              </a:rPr>
              <a:t>Cosine similarity: comparison operator used at evaluation.</a:t>
            </a:r>
          </a:p>
        </p:txBody>
      </p:sp>
      <p:pic>
        <p:nvPicPr>
          <p:cNvPr id="18" name="Picture 17" descr="image.png"/>
          <p:cNvPicPr>
            <a:picLocks noChangeAspect="1"/>
          </p:cNvPicPr>
          <p:nvPr/>
        </p:nvPicPr>
        <p:blipFill>
          <a:blip r:embed="rId4"/>
          <a:stretch>
            <a:fillRect/>
          </a:stretch>
        </p:blipFill>
        <p:spPr>
          <a:xfrm>
            <a:off x="640080" y="5285232"/>
            <a:ext cx="3032097" cy="292608"/>
          </a:xfrm>
          <a:prstGeom prst="rect">
            <a:avLst/>
          </a:prstGeom>
        </p:spPr>
      </p:pic>
      <p:sp>
        <p:nvSpPr>
          <p:cNvPr id="19" name="TextBox 18"/>
          <p:cNvSpPr txBox="1"/>
          <p:nvPr/>
        </p:nvSpPr>
        <p:spPr>
          <a:xfrm>
            <a:off x="3900098" y="5285232"/>
            <a:ext cx="7621341" cy="292608"/>
          </a:xfrm>
          <a:prstGeom prst="rect">
            <a:avLst/>
          </a:prstGeom>
          <a:noFill/>
        </p:spPr>
        <p:txBody>
          <a:bodyPr wrap="square">
            <a:spAutoFit/>
          </a:bodyPr>
          <a:lstStyle/>
          <a:p>
            <a:r>
              <a:rPr sz="1000">
                <a:solidFill>
                  <a:srgbClr val="5A6672"/>
                </a:solidFill>
                <a:latin typeface="Calibri"/>
              </a:rPr>
              <a:t>OPL [1]: fixed target, identity toward angle 0, others toward 90.</a:t>
            </a:r>
          </a:p>
        </p:txBody>
      </p:sp>
      <p:pic>
        <p:nvPicPr>
          <p:cNvPr id="20" name="Picture 19" descr="image.png"/>
          <p:cNvPicPr>
            <a:picLocks noChangeAspect="1"/>
          </p:cNvPicPr>
          <p:nvPr/>
        </p:nvPicPr>
        <p:blipFill>
          <a:blip r:embed="rId5"/>
          <a:stretch>
            <a:fillRect/>
          </a:stretch>
        </p:blipFill>
        <p:spPr>
          <a:xfrm>
            <a:off x="640080" y="5650992"/>
            <a:ext cx="2017925" cy="384048"/>
          </a:xfrm>
          <a:prstGeom prst="rect">
            <a:avLst/>
          </a:prstGeom>
        </p:spPr>
      </p:pic>
      <p:sp>
        <p:nvSpPr>
          <p:cNvPr id="21" name="TextBox 20"/>
          <p:cNvSpPr txBox="1"/>
          <p:nvPr/>
        </p:nvSpPr>
        <p:spPr>
          <a:xfrm>
            <a:off x="2884932" y="5650992"/>
            <a:ext cx="8636508" cy="384048"/>
          </a:xfrm>
          <a:prstGeom prst="rect">
            <a:avLst/>
          </a:prstGeom>
          <a:noFill/>
        </p:spPr>
        <p:txBody>
          <a:bodyPr wrap="square">
            <a:spAutoFit/>
          </a:bodyPr>
          <a:lstStyle/>
          <a:p>
            <a:r>
              <a:rPr sz="1000">
                <a:solidFill>
                  <a:srgbClr val="5A6672"/>
                </a:solidFill>
                <a:latin typeface="Calibri"/>
              </a:rPr>
              <a:t>SupCon [14]: same identity must outscore all others in the batch.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3   THEORETICAL FOUNDATION AND ARCHITECTURE</a:t>
            </a:r>
            <a:endParaRPr lang="en-US" sz="1100" dirty="0"/>
          </a:p>
        </p:txBody>
      </p:sp>
      <p:sp>
        <p:nvSpPr>
          <p:cNvPr id="3" name="Text 1"/>
          <p:cNvSpPr/>
          <p:nvPr/>
        </p:nvSpPr>
        <p:spPr>
          <a:xfrm>
            <a:off x="640080" y="685800"/>
            <a:ext cx="8686800" cy="457200"/>
          </a:xfrm>
          <a:prstGeom prst="rect">
            <a:avLst/>
          </a:prstGeom>
          <a:noFill/>
          <a:ln/>
        </p:spPr>
        <p:txBody>
          <a:bodyPr wrap="square" lIns="0" tIns="0" rIns="0" bIns="0" rtlCol="0" anchor="ctr"/>
          <a:lstStyle/>
          <a:p>
            <a:pPr marL="0" indent="0">
              <a:buNone/>
            </a:pPr>
            <a:r>
              <a:rPr lang="en-US" sz="2300" b="1" dirty="0">
                <a:solidFill>
                  <a:srgbClr val="1A1A1A"/>
                </a:solidFill>
                <a:latin typeface="Cambria" pitchFamily="34" charset="0"/>
                <a:ea typeface="Cambria" pitchFamily="34" charset="-122"/>
                <a:cs typeface="Cambria" pitchFamily="34" charset="-120"/>
              </a:rPr>
              <a:t>The Attention Mechanism</a:t>
            </a:r>
            <a:endParaRPr lang="en-US" sz="23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graphicFrame>
        <p:nvGraphicFramePr>
          <p:cNvPr id="21" name="Table 1"/>
          <p:cNvGraphicFramePr>
            <a:graphicFrameLocks noGrp="1"/>
          </p:cNvGraphicFramePr>
          <p:nvPr>
            <p:extLst>
              <p:ext uri="{D42A27DB-BD31-4B8C-83A1-F6EECF244321}">
                <p14:modId xmlns:p14="http://schemas.microsoft.com/office/powerpoint/2010/main" val="2207250509"/>
              </p:ext>
            </p:extLst>
          </p:nvPr>
        </p:nvGraphicFramePr>
        <p:xfrm>
          <a:off x="3009748" y="1645920"/>
          <a:ext cx="5349240" cy="1828800"/>
        </p:xfrm>
        <a:graphic>
          <a:graphicData uri="http://schemas.openxmlformats.org/drawingml/2006/table">
            <a:tbl>
              <a:tblPr/>
              <a:tblGrid>
                <a:gridCol w="2674620">
                  <a:extLst>
                    <a:ext uri="{9D8B030D-6E8A-4147-A177-3AD203B41FA5}">
                      <a16:colId xmlns:a16="http://schemas.microsoft.com/office/drawing/2014/main" val="20000"/>
                    </a:ext>
                  </a:extLst>
                </a:gridCol>
                <a:gridCol w="2674620">
                  <a:extLst>
                    <a:ext uri="{9D8B030D-6E8A-4147-A177-3AD203B41FA5}">
                      <a16:colId xmlns:a16="http://schemas.microsoft.com/office/drawing/2014/main" val="20001"/>
                    </a:ext>
                  </a:extLst>
                </a:gridCol>
              </a:tblGrid>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Hyperparameter</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Heads</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Embedding dim</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365760">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Sequence length</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2 tokens</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Dropout</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bl>
          </a:graphicData>
        </a:graphic>
      </p:graphicFrame>
      <p:sp>
        <p:nvSpPr>
          <p:cNvPr id="8" name="Shape 4"/>
          <p:cNvSpPr/>
          <p:nvPr/>
        </p:nvSpPr>
        <p:spPr>
          <a:xfrm>
            <a:off x="640080" y="3977640"/>
            <a:ext cx="10881360" cy="16459"/>
          </a:xfrm>
          <a:prstGeom prst="rect">
            <a:avLst/>
          </a:prstGeom>
          <a:solidFill>
            <a:srgbClr val="C7CDD3"/>
          </a:solidFill>
          <a:ln/>
        </p:spPr>
        <p:txBody>
          <a:bodyPr/>
          <a:lstStyle/>
          <a:p>
            <a:endParaRPr lang="en-US"/>
          </a:p>
        </p:txBody>
      </p:sp>
      <p:sp>
        <p:nvSpPr>
          <p:cNvPr id="9" name="Text 5"/>
          <p:cNvSpPr/>
          <p:nvPr/>
        </p:nvSpPr>
        <p:spPr>
          <a:xfrm>
            <a:off x="640080" y="3725231"/>
            <a:ext cx="10881360" cy="10058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Multi-head attention [15]. A correction, not a reconstruction: attention's output is added onto the original translator embeddings through a residual connection. Fusion exists only because Cross-Entropy requires one combined vector to classify; </a:t>
            </a:r>
            <a:endParaRPr lang="en-US" sz="1250" dirty="0"/>
          </a:p>
        </p:txBody>
      </p:sp>
      <p:sp>
        <p:nvSpPr>
          <p:cNvPr id="10" name="Shape 6"/>
          <p:cNvSpPr/>
          <p:nvPr/>
        </p:nvSpPr>
        <p:spPr>
          <a:xfrm>
            <a:off x="640080" y="6437376"/>
            <a:ext cx="10088575" cy="10973"/>
          </a:xfrm>
          <a:prstGeom prst="rect">
            <a:avLst/>
          </a:prstGeom>
          <a:solidFill>
            <a:srgbClr val="C7CDD3"/>
          </a:solidFill>
          <a:ln/>
        </p:spPr>
        <p:txBody>
          <a:bodyPr/>
          <a:lstStyle/>
          <a:p>
            <a:endParaRPr lang="en-US"/>
          </a:p>
        </p:txBody>
      </p:sp>
      <p:sp>
        <p:nvSpPr>
          <p:cNvPr id="6" name="Text 7"/>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12" name="Text 8"/>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3" name="Shape 9"/>
          <p:cNvSpPr/>
          <p:nvPr/>
        </p:nvSpPr>
        <p:spPr>
          <a:xfrm>
            <a:off x="4002938" y="6437376"/>
            <a:ext cx="1635709" cy="27432"/>
          </a:xfrm>
          <a:prstGeom prst="rect">
            <a:avLst/>
          </a:prstGeom>
          <a:solidFill>
            <a:srgbClr val="0097A7"/>
          </a:solidFill>
          <a:ln/>
        </p:spPr>
        <p:txBody>
          <a:bodyPr/>
          <a:lstStyle/>
          <a:p>
            <a:endParaRPr lang="en-US"/>
          </a:p>
        </p:txBody>
      </p:sp>
      <p:sp>
        <p:nvSpPr>
          <p:cNvPr id="14" name="Text 10"/>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Theoretical Foundation</a:t>
            </a:r>
            <a:endParaRPr lang="en-US" sz="850" dirty="0"/>
          </a:p>
        </p:txBody>
      </p:sp>
      <p:sp>
        <p:nvSpPr>
          <p:cNvPr id="15" name="Text 11"/>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6" name="Text 12"/>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7" name="Text 13"/>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8" name="Text 1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9 / 19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3   THEORETICAL FOUNDATION AND ARCHITECTURE</a:t>
            </a:r>
            <a:endParaRPr lang="en-US" sz="1100" dirty="0"/>
          </a:p>
        </p:txBody>
      </p:sp>
      <p:sp>
        <p:nvSpPr>
          <p:cNvPr id="3" name="Text 1"/>
          <p:cNvSpPr/>
          <p:nvPr/>
        </p:nvSpPr>
        <p:spPr>
          <a:xfrm>
            <a:off x="640080" y="685800"/>
            <a:ext cx="73152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System Architecture</a:t>
            </a:r>
            <a:endParaRPr lang="en-US" sz="24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pic>
        <p:nvPicPr>
          <p:cNvPr id="5" name="Image 0" descr="/home/claude/ppt/figs/fig6_pipeline.png"/>
          <p:cNvPicPr>
            <a:picLocks noChangeAspect="1"/>
          </p:cNvPicPr>
          <p:nvPr/>
        </p:nvPicPr>
        <p:blipFill>
          <a:blip r:embed="rId3"/>
          <a:stretch>
            <a:fillRect/>
          </a:stretch>
        </p:blipFill>
        <p:spPr>
          <a:xfrm>
            <a:off x="822960" y="1600200"/>
            <a:ext cx="10515600" cy="4577633"/>
          </a:xfrm>
          <a:prstGeom prst="rect">
            <a:avLst/>
          </a:prstGeom>
        </p:spPr>
      </p:pic>
      <p:sp>
        <p:nvSpPr>
          <p:cNvPr id="6" name="Text 3"/>
          <p:cNvSpPr/>
          <p:nvPr/>
        </p:nvSpPr>
        <p:spPr>
          <a:xfrm>
            <a:off x="640080" y="5989320"/>
            <a:ext cx="10881360" cy="548640"/>
          </a:xfrm>
          <a:prstGeom prst="rect">
            <a:avLst/>
          </a:prstGeom>
          <a:noFill/>
          <a:ln/>
        </p:spPr>
        <p:txBody>
          <a:bodyPr wrap="square" lIns="0" tIns="0" rIns="0" bIns="0" rtlCol="0" anchor="ctr"/>
          <a:lstStyle/>
          <a:p>
            <a:pPr marL="0" indent="0">
              <a:buNone/>
            </a:pPr>
            <a:r>
              <a:rPr lang="en-US" sz="1100" i="1" dirty="0">
                <a:solidFill>
                  <a:srgbClr val="5A6672"/>
                </a:solidFill>
                <a:latin typeface="Calibri" pitchFamily="34" charset="0"/>
                <a:ea typeface="Calibri" pitchFamily="34" charset="-122"/>
                <a:cs typeface="Calibri" pitchFamily="34" charset="-120"/>
              </a:rPr>
              <a:t>Fig. 6. Pipeline. Path A (evaluation) uses translator outputs directly. Path B (training only) adds Transformer cross-attention fusion and a classifier; neither is invoked at inference.</a:t>
            </a:r>
            <a:endParaRPr lang="en-US" sz="1100" dirty="0"/>
          </a:p>
        </p:txBody>
      </p:sp>
      <p:sp>
        <p:nvSpPr>
          <p:cNvPr id="7" name="Shape 4"/>
          <p:cNvSpPr/>
          <p:nvPr/>
        </p:nvSpPr>
        <p:spPr>
          <a:xfrm>
            <a:off x="640080" y="6437376"/>
            <a:ext cx="10088575" cy="10973"/>
          </a:xfrm>
          <a:prstGeom prst="rect">
            <a:avLst/>
          </a:prstGeom>
          <a:solidFill>
            <a:srgbClr val="C7CDD3"/>
          </a:solidFill>
          <a:ln/>
        </p:spPr>
        <p:txBody>
          <a:bodyPr/>
          <a:lstStyle/>
          <a:p>
            <a:endParaRPr lang="en-US"/>
          </a:p>
        </p:txBody>
      </p:sp>
      <p:sp>
        <p:nvSpPr>
          <p:cNvPr id="8" name="Text 5"/>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9" name="Text 6"/>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0" name="Shape 7"/>
          <p:cNvSpPr/>
          <p:nvPr/>
        </p:nvSpPr>
        <p:spPr>
          <a:xfrm>
            <a:off x="4002938" y="6437376"/>
            <a:ext cx="1635709" cy="27432"/>
          </a:xfrm>
          <a:prstGeom prst="rect">
            <a:avLst/>
          </a:prstGeom>
          <a:solidFill>
            <a:srgbClr val="0097A7"/>
          </a:solidFill>
          <a:ln/>
        </p:spPr>
        <p:txBody>
          <a:bodyPr/>
          <a:lstStyle/>
          <a:p>
            <a:endParaRPr lang="en-US"/>
          </a:p>
        </p:txBody>
      </p:sp>
      <p:sp>
        <p:nvSpPr>
          <p:cNvPr id="11" name="Text 8"/>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Theoretical Foundation</a:t>
            </a:r>
            <a:endParaRPr lang="en-US" sz="850" dirty="0"/>
          </a:p>
        </p:txBody>
      </p:sp>
      <p:sp>
        <p:nvSpPr>
          <p:cNvPr id="12" name="Text 9"/>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3" name="Text 10"/>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4" name="Text 11"/>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5"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10 / 19</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4   IMPLEMENTATION</a:t>
            </a:r>
            <a:endParaRPr lang="en-US" sz="1100" dirty="0"/>
          </a:p>
        </p:txBody>
      </p:sp>
      <p:sp>
        <p:nvSpPr>
          <p:cNvPr id="3" name="Text 1"/>
          <p:cNvSpPr/>
          <p:nvPr/>
        </p:nvSpPr>
        <p:spPr>
          <a:xfrm>
            <a:off x="640080" y="685800"/>
            <a:ext cx="8229600" cy="457200"/>
          </a:xfrm>
          <a:prstGeom prst="rect">
            <a:avLst/>
          </a:prstGeom>
          <a:noFill/>
          <a:ln/>
        </p:spPr>
        <p:txBody>
          <a:bodyPr wrap="square" lIns="0" tIns="0" rIns="0" bIns="0" rtlCol="0" anchor="ctr"/>
          <a:lstStyle/>
          <a:p>
            <a:pPr marL="0" indent="0">
              <a:buNone/>
            </a:pPr>
            <a:r>
              <a:rPr lang="en-US" sz="2300" b="1" dirty="0">
                <a:solidFill>
                  <a:srgbClr val="1A1A1A"/>
                </a:solidFill>
                <a:latin typeface="Cambria" pitchFamily="34" charset="0"/>
                <a:ea typeface="Cambria" pitchFamily="34" charset="-122"/>
                <a:cs typeface="Cambria" pitchFamily="34" charset="-120"/>
              </a:rPr>
              <a:t>Training Configuration</a:t>
            </a:r>
            <a:endParaRPr lang="en-US" sz="23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graphicFrame>
        <p:nvGraphicFramePr>
          <p:cNvPr id="13" name="Table 0"/>
          <p:cNvGraphicFramePr>
            <a:graphicFrameLocks noGrp="1"/>
          </p:cNvGraphicFramePr>
          <p:nvPr>
            <p:extLst>
              <p:ext uri="{D42A27DB-BD31-4B8C-83A1-F6EECF244321}">
                <p14:modId xmlns:p14="http://schemas.microsoft.com/office/powerpoint/2010/main" val="1582695344"/>
              </p:ext>
            </p:extLst>
          </p:nvPr>
        </p:nvGraphicFramePr>
        <p:xfrm>
          <a:off x="640080" y="1508760"/>
          <a:ext cx="10881360" cy="2779776"/>
        </p:xfrm>
        <a:graphic>
          <a:graphicData uri="http://schemas.openxmlformats.org/drawingml/2006/table">
            <a:tbl>
              <a:tblPr/>
              <a:tblGrid>
                <a:gridCol w="54406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34747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Adam</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Learning rate</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0.001</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34747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Weight decay</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1e-4</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LR scheduler</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ReduceLROnPlateau, factor 0.5, patience 5</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r h="34747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Batch size</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Early stopping</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patience 15 epochs</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6"/>
                  </a:ext>
                </a:extLst>
              </a:tr>
              <a:tr h="347472">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Hardware</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1A"/>
                          </a:solidFill>
                          <a:latin typeface="Calibri" pitchFamily="34" charset="0"/>
                          <a:ea typeface="Calibri" pitchFamily="34" charset="-122"/>
                          <a:cs typeface="Calibri" pitchFamily="34" charset="-120"/>
                        </a:rPr>
                        <a:t>Google Colab, NVIDIA Tesla T4 GPU</a:t>
                      </a:r>
                      <a:endParaRPr lang="en-US" sz="11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3"/>
          <p:cNvSpPr/>
          <p:nvPr/>
        </p:nvSpPr>
        <p:spPr>
          <a:xfrm>
            <a:off x="640080" y="6437376"/>
            <a:ext cx="10088575" cy="10973"/>
          </a:xfrm>
          <a:prstGeom prst="rect">
            <a:avLst/>
          </a:prstGeom>
          <a:solidFill>
            <a:srgbClr val="C7CDD3"/>
          </a:solidFill>
          <a:ln/>
        </p:spPr>
        <p:txBody>
          <a:bodyPr/>
          <a:lstStyle/>
          <a:p>
            <a:endParaRPr lang="en-US"/>
          </a:p>
        </p:txBody>
      </p:sp>
      <p:sp>
        <p:nvSpPr>
          <p:cNvPr id="7" name="Text 4"/>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8" name="Text 5"/>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9" name="Text 6"/>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0" name="Shape 7"/>
          <p:cNvSpPr/>
          <p:nvPr/>
        </p:nvSpPr>
        <p:spPr>
          <a:xfrm>
            <a:off x="5684368" y="6437376"/>
            <a:ext cx="1635709" cy="27432"/>
          </a:xfrm>
          <a:prstGeom prst="rect">
            <a:avLst/>
          </a:prstGeom>
          <a:solidFill>
            <a:srgbClr val="0097A7"/>
          </a:solidFill>
          <a:ln/>
        </p:spPr>
        <p:txBody>
          <a:bodyPr/>
          <a:lstStyle/>
          <a:p>
            <a:endParaRPr lang="en-US"/>
          </a:p>
        </p:txBody>
      </p:sp>
      <p:sp>
        <p:nvSpPr>
          <p:cNvPr id="11" name="Text 8"/>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Implementation</a:t>
            </a:r>
            <a:endParaRPr lang="en-US" sz="850" dirty="0"/>
          </a:p>
        </p:txBody>
      </p:sp>
      <p:sp>
        <p:nvSpPr>
          <p:cNvPr id="12" name="Text 9"/>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5" name="Text 10"/>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4" name="Text 11"/>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11 / 19</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4   IMPLEMENTATION</a:t>
            </a:r>
            <a:endParaRPr lang="en-US" sz="1100" dirty="0"/>
          </a:p>
        </p:txBody>
      </p:sp>
      <p:sp>
        <p:nvSpPr>
          <p:cNvPr id="3" name="Text 1"/>
          <p:cNvSpPr/>
          <p:nvPr/>
        </p:nvSpPr>
        <p:spPr>
          <a:xfrm>
            <a:off x="640080" y="685800"/>
            <a:ext cx="73152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Datasets</a:t>
            </a:r>
            <a:endParaRPr lang="en-US" sz="24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1755648"/>
        </p:xfrm>
        <a:graphic>
          <a:graphicData uri="http://schemas.openxmlformats.org/drawingml/2006/table">
            <a:tbl>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438912">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Identities</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Languages</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Utterances</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438912">
                <a:tc>
                  <a:txBody>
                    <a:bodyPr/>
                    <a:lstStyle/>
                    <a:p>
                      <a:pPr marL="0" indent="0" algn="l">
                        <a:buNone/>
                      </a:pPr>
                      <a:r>
                        <a:rPr lang="en-US" sz="1250" dirty="0">
                          <a:solidFill>
                            <a:srgbClr val="1A1A1A"/>
                          </a:solidFill>
                          <a:latin typeface="Calibri" pitchFamily="34" charset="0"/>
                          <a:ea typeface="Calibri" pitchFamily="34" charset="-122"/>
                          <a:cs typeface="Calibri" pitchFamily="34" charset="-120"/>
                        </a:rPr>
                        <a:t>MAVCeleb v1</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70 (64 labeled)</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English, Urdu</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18,385</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250" dirty="0">
                          <a:solidFill>
                            <a:srgbClr val="1A1A1A"/>
                          </a:solidFill>
                          <a:latin typeface="Calibri" pitchFamily="34" charset="0"/>
                          <a:ea typeface="Calibri" pitchFamily="34" charset="-122"/>
                          <a:cs typeface="Calibri" pitchFamily="34" charset="-120"/>
                        </a:rPr>
                        <a:t>MAVCeleb v2</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84</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English, Hindi</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20,715</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438912">
                <a:tc>
                  <a:txBody>
                    <a:bodyPr/>
                    <a:lstStyle/>
                    <a:p>
                      <a:pPr marL="0" indent="0" algn="l">
                        <a:buNone/>
                      </a:pPr>
                      <a:r>
                        <a:rPr lang="en-US" sz="1250" dirty="0">
                          <a:solidFill>
                            <a:srgbClr val="1A1A1A"/>
                          </a:solidFill>
                          <a:latin typeface="Calibri" pitchFamily="34" charset="0"/>
                          <a:ea typeface="Calibri" pitchFamily="34" charset="-122"/>
                          <a:cs typeface="Calibri" pitchFamily="34" charset="-120"/>
                        </a:rPr>
                        <a:t>MAVCeleb v3</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English, German</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1A1A"/>
                          </a:solidFill>
                          <a:latin typeface="Calibri" pitchFamily="34" charset="0"/>
                          <a:ea typeface="Calibri" pitchFamily="34" charset="-122"/>
                          <a:cs typeface="Calibri" pitchFamily="34" charset="-120"/>
                        </a:rPr>
                        <a:t>3,812</a:t>
                      </a:r>
                      <a:endParaRPr lang="en-US" sz="12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640080" y="3542386"/>
            <a:ext cx="10881360" cy="548640"/>
          </a:xfrm>
          <a:prstGeom prst="rect">
            <a:avLst/>
          </a:prstGeom>
          <a:noFill/>
          <a:ln/>
        </p:spPr>
        <p:txBody>
          <a:bodyPr wrap="square" lIns="0" tIns="0" rIns="0" bIns="0" rtlCol="0" anchor="ctr"/>
          <a:lstStyle/>
          <a:p>
            <a:pPr marL="0" indent="0">
              <a:buNone/>
            </a:pPr>
            <a:r>
              <a:rPr lang="en-US" sz="1250" i="1" dirty="0">
                <a:solidFill>
                  <a:srgbClr val="5A6672"/>
                </a:solidFill>
                <a:latin typeface="Calibri" pitchFamily="34" charset="0"/>
                <a:ea typeface="Calibri" pitchFamily="34" charset="-122"/>
                <a:cs typeface="Calibri" pitchFamily="34" charset="-120"/>
              </a:rPr>
              <a:t>198 unique identities across four languages: the multilingual backbone this system was trained on.</a:t>
            </a:r>
            <a:endParaRPr lang="en-US" sz="1250" dirty="0"/>
          </a:p>
        </p:txBody>
      </p:sp>
      <p:sp>
        <p:nvSpPr>
          <p:cNvPr id="7" name="Shape 4"/>
          <p:cNvSpPr/>
          <p:nvPr/>
        </p:nvSpPr>
        <p:spPr>
          <a:xfrm>
            <a:off x="640080" y="6437376"/>
            <a:ext cx="10088575" cy="10973"/>
          </a:xfrm>
          <a:prstGeom prst="rect">
            <a:avLst/>
          </a:prstGeom>
          <a:solidFill>
            <a:srgbClr val="C7CDD3"/>
          </a:solidFill>
          <a:ln/>
        </p:spPr>
        <p:txBody>
          <a:bodyPr/>
          <a:lstStyle/>
          <a:p>
            <a:endParaRPr lang="en-US"/>
          </a:p>
        </p:txBody>
      </p:sp>
      <p:sp>
        <p:nvSpPr>
          <p:cNvPr id="8" name="Text 5"/>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9" name="Text 6"/>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0" name="Text 7"/>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1" name="Shape 8"/>
          <p:cNvSpPr/>
          <p:nvPr/>
        </p:nvSpPr>
        <p:spPr>
          <a:xfrm>
            <a:off x="5684368" y="6437376"/>
            <a:ext cx="1635709" cy="27432"/>
          </a:xfrm>
          <a:prstGeom prst="rect">
            <a:avLst/>
          </a:prstGeom>
          <a:solidFill>
            <a:srgbClr val="0097A7"/>
          </a:solidFill>
          <a:ln/>
        </p:spPr>
        <p:txBody>
          <a:bodyPr/>
          <a:lstStyle/>
          <a:p>
            <a:endParaRPr lang="en-US"/>
          </a:p>
        </p:txBody>
      </p:sp>
      <p:sp>
        <p:nvSpPr>
          <p:cNvPr id="12" name="Text 9"/>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Implementation</a:t>
            </a:r>
            <a:endParaRPr lang="en-US" sz="850" dirty="0"/>
          </a:p>
        </p:txBody>
      </p:sp>
      <p:sp>
        <p:nvSpPr>
          <p:cNvPr id="13" name="Text 10"/>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5" name="Text 11"/>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5" name="Text 12"/>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12 / 19</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4   IMPLEMENTATION</a:t>
            </a:r>
            <a:endParaRPr lang="en-US" sz="1100" dirty="0"/>
          </a:p>
        </p:txBody>
      </p:sp>
      <p:sp>
        <p:nvSpPr>
          <p:cNvPr id="3" name="Text 1"/>
          <p:cNvSpPr/>
          <p:nvPr/>
        </p:nvSpPr>
        <p:spPr>
          <a:xfrm>
            <a:off x="640080" y="685800"/>
            <a:ext cx="82296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Building RO-FaceVoice</a:t>
            </a:r>
            <a:endParaRPr lang="en-US" sz="2400" dirty="0"/>
          </a:p>
        </p:txBody>
      </p:sp>
      <p:sp>
        <p:nvSpPr>
          <p:cNvPr id="4" name="Text 2"/>
          <p:cNvSpPr/>
          <p:nvPr/>
        </p:nvSpPr>
        <p:spPr>
          <a:xfrm>
            <a:off x="640080" y="1143000"/>
            <a:ext cx="10058400" cy="320040"/>
          </a:xfrm>
          <a:prstGeom prst="rect">
            <a:avLst/>
          </a:prstGeom>
          <a:noFill/>
          <a:ln/>
        </p:spPr>
        <p:txBody>
          <a:bodyPr wrap="square" lIns="0" tIns="0" rIns="0" bIns="0" rtlCol="0" anchor="ctr"/>
          <a:lstStyle/>
          <a:p>
            <a:pPr marL="0" indent="0">
              <a:buNone/>
            </a:pPr>
            <a:r>
              <a:rPr lang="en-US" sz="1200" i="1" dirty="0">
                <a:solidFill>
                  <a:srgbClr val="5A6672"/>
                </a:solidFill>
                <a:latin typeface="Calibri" pitchFamily="34" charset="0"/>
                <a:ea typeface="Calibri" pitchFamily="34" charset="-122"/>
                <a:cs typeface="Calibri" pitchFamily="34" charset="-120"/>
              </a:rPr>
              <a:t>No MAVCeleb data includes Romanian; testing on a genuinely unseen language required building this corpus.</a:t>
            </a:r>
            <a:endParaRPr lang="en-US" sz="1200" dirty="0"/>
          </a:p>
        </p:txBody>
      </p:sp>
      <p:sp>
        <p:nvSpPr>
          <p:cNvPr id="5" name="Shape 3"/>
          <p:cNvSpPr/>
          <p:nvPr/>
        </p:nvSpPr>
        <p:spPr>
          <a:xfrm>
            <a:off x="640080" y="1536192"/>
            <a:ext cx="10911535" cy="16459"/>
          </a:xfrm>
          <a:prstGeom prst="rect">
            <a:avLst/>
          </a:prstGeom>
          <a:solidFill>
            <a:srgbClr val="0E2A47"/>
          </a:solidFill>
          <a:ln/>
        </p:spPr>
        <p:txBody>
          <a:bodyPr/>
          <a:lstStyle/>
          <a:p>
            <a:endParaRPr lang="en-US"/>
          </a:p>
        </p:txBody>
      </p:sp>
      <p:pic>
        <p:nvPicPr>
          <p:cNvPr id="6" name="Image 0" descr="/home/claude/ppt/figs/fig7_rofacevoice.png"/>
          <p:cNvPicPr>
            <a:picLocks noChangeAspect="1"/>
          </p:cNvPicPr>
          <p:nvPr/>
        </p:nvPicPr>
        <p:blipFill>
          <a:blip r:embed="rId3"/>
          <a:stretch>
            <a:fillRect/>
          </a:stretch>
        </p:blipFill>
        <p:spPr>
          <a:xfrm>
            <a:off x="640080" y="1783080"/>
            <a:ext cx="10881360" cy="3918689"/>
          </a:xfrm>
          <a:prstGeom prst="rect">
            <a:avLst/>
          </a:prstGeom>
        </p:spPr>
      </p:pic>
      <p:sp>
        <p:nvSpPr>
          <p:cNvPr id="7" name="Text 4"/>
          <p:cNvSpPr/>
          <p:nvPr/>
        </p:nvSpPr>
        <p:spPr>
          <a:xfrm>
            <a:off x="640080" y="5742432"/>
            <a:ext cx="10881360" cy="640080"/>
          </a:xfrm>
          <a:prstGeom prst="rect">
            <a:avLst/>
          </a:prstGeom>
          <a:noFill/>
          <a:ln/>
        </p:spPr>
        <p:txBody>
          <a:bodyPr wrap="square" lIns="0" tIns="0" rIns="0" bIns="0" rtlCol="0" anchor="ctr"/>
          <a:lstStyle/>
          <a:p>
            <a:pPr marL="0" indent="0">
              <a:buNone/>
            </a:pPr>
            <a:r>
              <a:rPr lang="en-US" sz="1050" i="1" dirty="0">
                <a:solidFill>
                  <a:srgbClr val="5A6672"/>
                </a:solidFill>
                <a:latin typeface="Calibri" pitchFamily="34" charset="0"/>
                <a:ea typeface="Calibri" pitchFamily="34" charset="-122"/>
                <a:cs typeface="Calibri" pitchFamily="34" charset="-120"/>
              </a:rPr>
              <a:t>Fig. 7. RO-FaceVoice construction: YouTube collection, face extraction (OpenCV Haar cascade), voice extraction (FFmpeg), anonymized output structure. Result: 41 identities, 147 utterances, never seen in training.</a:t>
            </a:r>
            <a:endParaRPr lang="en-US" sz="1050" dirty="0"/>
          </a:p>
        </p:txBody>
      </p:sp>
      <p:sp>
        <p:nvSpPr>
          <p:cNvPr id="8" name="Shape 5"/>
          <p:cNvSpPr/>
          <p:nvPr/>
        </p:nvSpPr>
        <p:spPr>
          <a:xfrm>
            <a:off x="640080" y="6437376"/>
            <a:ext cx="10088575" cy="10973"/>
          </a:xfrm>
          <a:prstGeom prst="rect">
            <a:avLst/>
          </a:prstGeom>
          <a:solidFill>
            <a:srgbClr val="C7CDD3"/>
          </a:solidFill>
          <a:ln/>
        </p:spPr>
        <p:txBody>
          <a:bodyPr/>
          <a:lstStyle/>
          <a:p>
            <a:endParaRPr lang="en-US"/>
          </a:p>
        </p:txBody>
      </p:sp>
      <p:sp>
        <p:nvSpPr>
          <p:cNvPr id="9" name="Text 6"/>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10" name="Text 7"/>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1" name="Text 8"/>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2" name="Shape 9"/>
          <p:cNvSpPr/>
          <p:nvPr/>
        </p:nvSpPr>
        <p:spPr>
          <a:xfrm>
            <a:off x="5684368" y="6437376"/>
            <a:ext cx="1635709" cy="27432"/>
          </a:xfrm>
          <a:prstGeom prst="rect">
            <a:avLst/>
          </a:prstGeom>
          <a:solidFill>
            <a:srgbClr val="0097A7"/>
          </a:solidFill>
          <a:ln/>
        </p:spPr>
        <p:txBody>
          <a:bodyPr/>
          <a:lstStyle/>
          <a:p>
            <a:endParaRPr lang="en-US"/>
          </a:p>
        </p:txBody>
      </p:sp>
      <p:sp>
        <p:nvSpPr>
          <p:cNvPr id="13" name="Text 10"/>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Implementation</a:t>
            </a:r>
            <a:endParaRPr lang="en-US" sz="850" dirty="0"/>
          </a:p>
        </p:txBody>
      </p:sp>
      <p:sp>
        <p:nvSpPr>
          <p:cNvPr id="14" name="Text 11"/>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5" name="Text 12"/>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16" name="Text 1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13 / 19</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5   EXPERIMENTAL RESULTS</a:t>
            </a:r>
            <a:endParaRPr lang="en-US" sz="1100" dirty="0"/>
          </a:p>
        </p:txBody>
      </p:sp>
      <p:sp>
        <p:nvSpPr>
          <p:cNvPr id="3" name="Text 1"/>
          <p:cNvSpPr/>
          <p:nvPr/>
        </p:nvSpPr>
        <p:spPr>
          <a:xfrm>
            <a:off x="640080" y="685800"/>
            <a:ext cx="9601200" cy="457200"/>
          </a:xfrm>
          <a:prstGeom prst="rect">
            <a:avLst/>
          </a:prstGeom>
          <a:noFill/>
          <a:ln/>
        </p:spPr>
        <p:txBody>
          <a:bodyPr wrap="square" lIns="0" tIns="0" rIns="0" bIns="0" rtlCol="0" anchor="ctr"/>
          <a:lstStyle/>
          <a:p>
            <a:pPr marL="0" indent="0">
              <a:buNone/>
            </a:pPr>
            <a:r>
              <a:rPr lang="en-US" sz="2300" b="1" dirty="0">
                <a:solidFill>
                  <a:srgbClr val="1A1A1A"/>
                </a:solidFill>
                <a:latin typeface="Cambria" pitchFamily="34" charset="0"/>
                <a:ea typeface="Cambria" pitchFamily="34" charset="-122"/>
                <a:cs typeface="Cambria" pitchFamily="34" charset="-120"/>
              </a:rPr>
              <a:t>Component Comparison</a:t>
            </a:r>
            <a:endParaRPr lang="en-US" sz="2300" dirty="0"/>
          </a:p>
        </p:txBody>
      </p:sp>
      <p:sp>
        <p:nvSpPr>
          <p:cNvPr id="4" name="Text 2"/>
          <p:cNvSpPr/>
          <p:nvPr/>
        </p:nvSpPr>
        <p:spPr>
          <a:xfrm>
            <a:off x="640080" y="1188720"/>
            <a:ext cx="9144000" cy="320040"/>
          </a:xfrm>
          <a:prstGeom prst="rect">
            <a:avLst/>
          </a:prstGeom>
          <a:noFill/>
          <a:ln/>
        </p:spPr>
        <p:txBody>
          <a:bodyPr wrap="square" lIns="0" tIns="0" rIns="0" bIns="0" rtlCol="0" anchor="ctr"/>
          <a:lstStyle/>
          <a:p>
            <a:pPr marL="0" indent="0">
              <a:buNone/>
            </a:pPr>
            <a:r>
              <a:rPr lang="en-US" sz="1250" i="1" dirty="0">
                <a:solidFill>
                  <a:srgbClr val="5A6672"/>
                </a:solidFill>
                <a:latin typeface="Calibri" pitchFamily="34" charset="0"/>
                <a:ea typeface="Calibri" pitchFamily="34" charset="-122"/>
                <a:cs typeface="Calibri" pitchFamily="34" charset="-120"/>
              </a:rPr>
              <a:t>Five configurations, one variable changed at a time</a:t>
            </a:r>
            <a:endParaRPr lang="en-US" sz="1250" dirty="0"/>
          </a:p>
        </p:txBody>
      </p:sp>
      <p:sp>
        <p:nvSpPr>
          <p:cNvPr id="5" name="Shape 3"/>
          <p:cNvSpPr/>
          <p:nvPr/>
        </p:nvSpPr>
        <p:spPr>
          <a:xfrm>
            <a:off x="640080" y="1554480"/>
            <a:ext cx="10911535" cy="16459"/>
          </a:xfrm>
          <a:prstGeom prst="rect">
            <a:avLst/>
          </a:prstGeom>
          <a:solidFill>
            <a:srgbClr val="0E2A47"/>
          </a:solidFill>
          <a:ln/>
        </p:spPr>
        <p:txBody>
          <a:bodyPr/>
          <a:lstStyle/>
          <a:p>
            <a:endParaRPr lang="en-US"/>
          </a:p>
        </p:txBody>
      </p:sp>
      <p:graphicFrame>
        <p:nvGraphicFramePr>
          <p:cNvPr id="16" name="Table 0"/>
          <p:cNvGraphicFramePr>
            <a:graphicFrameLocks noGrp="1"/>
          </p:cNvGraphicFramePr>
          <p:nvPr>
            <p:extLst>
              <p:ext uri="{D42A27DB-BD31-4B8C-83A1-F6EECF244321}">
                <p14:modId xmlns:p14="http://schemas.microsoft.com/office/powerpoint/2010/main" val="2601324418"/>
              </p:ext>
            </p:extLst>
          </p:nvPr>
        </p:nvGraphicFramePr>
        <p:xfrm>
          <a:off x="640080" y="1828800"/>
          <a:ext cx="10881360" cy="2304288"/>
        </p:xfrm>
        <a:graphic>
          <a:graphicData uri="http://schemas.openxmlformats.org/drawingml/2006/table">
            <a:tbl>
              <a:tblPr/>
              <a:tblGrid>
                <a:gridCol w="1813560">
                  <a:extLst>
                    <a:ext uri="{9D8B030D-6E8A-4147-A177-3AD203B41FA5}">
                      <a16:colId xmlns:a16="http://schemas.microsoft.com/office/drawing/2014/main" val="20000"/>
                    </a:ext>
                  </a:extLst>
                </a:gridCol>
                <a:gridCol w="1813560">
                  <a:extLst>
                    <a:ext uri="{9D8B030D-6E8A-4147-A177-3AD203B41FA5}">
                      <a16:colId xmlns:a16="http://schemas.microsoft.com/office/drawing/2014/main" val="20001"/>
                    </a:ext>
                  </a:extLst>
                </a:gridCol>
                <a:gridCol w="1813560">
                  <a:extLst>
                    <a:ext uri="{9D8B030D-6E8A-4147-A177-3AD203B41FA5}">
                      <a16:colId xmlns:a16="http://schemas.microsoft.com/office/drawing/2014/main" val="20002"/>
                    </a:ext>
                  </a:extLst>
                </a:gridCol>
                <a:gridCol w="1813560">
                  <a:extLst>
                    <a:ext uri="{9D8B030D-6E8A-4147-A177-3AD203B41FA5}">
                      <a16:colId xmlns:a16="http://schemas.microsoft.com/office/drawing/2014/main" val="20003"/>
                    </a:ext>
                  </a:extLst>
                </a:gridCol>
                <a:gridCol w="1813560">
                  <a:extLst>
                    <a:ext uri="{9D8B030D-6E8A-4147-A177-3AD203B41FA5}">
                      <a16:colId xmlns:a16="http://schemas.microsoft.com/office/drawing/2014/main" val="20004"/>
                    </a:ext>
                  </a:extLst>
                </a:gridCol>
                <a:gridCol w="1813560">
                  <a:extLst>
                    <a:ext uri="{9D8B030D-6E8A-4147-A177-3AD203B41FA5}">
                      <a16:colId xmlns:a16="http://schemas.microsoft.com/office/drawing/2014/main" val="20005"/>
                    </a:ext>
                  </a:extLst>
                </a:gridCol>
              </a:tblGrid>
              <a:tr h="38404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Configuration</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Identities</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Urdu sim.</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Urdu EER</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 sim.</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 Rank-1</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ResNet18 + OPL, EN</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0.1377</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latin typeface="Calibri" charset="0"/>
                          <a:ea typeface="Calibri" charset="0"/>
                          <a:cs typeface="Calibri" charset="0"/>
                        </a:rPr>
                        <a:t>Not tested</a:t>
                      </a: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VGG16+ECAPA+OPL, EN</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0.0382</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0.2532</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latin typeface="Calibri" charset="0"/>
                          <a:ea typeface="Calibri" charset="0"/>
                          <a:cs typeface="Calibri" charset="0"/>
                        </a:rPr>
                        <a:t>Not tested</a:t>
                      </a: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VGG16+ECAPA+SupCon, EN</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64</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0.0204</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47.06%</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0.2252</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dirty="0">
                          <a:latin typeface="Calibri" charset="0"/>
                          <a:ea typeface="Calibri" charset="0"/>
                          <a:cs typeface="Calibri" charset="0"/>
                        </a:rPr>
                        <a:t>Not tested</a:t>
                      </a: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VGG16+ECAPA+SupCon, ML</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0.0972</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43.60%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0.2265</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2.44%</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r h="384048">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ArcFace+ECAPA+SupCon, ML</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A1A1A"/>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A1A1A"/>
                          </a:solidFill>
                          <a:latin typeface="Calibri" pitchFamily="34" charset="0"/>
                          <a:ea typeface="Calibri" pitchFamily="34" charset="-122"/>
                          <a:cs typeface="Calibri" pitchFamily="34" charset="-120"/>
                        </a:rPr>
                        <a:t>0.4941</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A1A1A"/>
                          </a:solidFill>
                          <a:latin typeface="Calibri" pitchFamily="34" charset="0"/>
                          <a:ea typeface="Calibri" pitchFamily="34" charset="-122"/>
                          <a:cs typeface="Calibri" pitchFamily="34" charset="-120"/>
                        </a:rPr>
                        <a:t>9.10%</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A1A1A"/>
                          </a:solidFill>
                          <a:latin typeface="Calibri" pitchFamily="34" charset="0"/>
                          <a:ea typeface="Calibri" pitchFamily="34" charset="-122"/>
                          <a:cs typeface="Calibri" pitchFamily="34" charset="-120"/>
                        </a:rPr>
                        <a:t>0.3323</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A1A1A"/>
                          </a:solidFill>
                          <a:latin typeface="Calibri" pitchFamily="34" charset="0"/>
                          <a:ea typeface="Calibri" pitchFamily="34" charset="-122"/>
                          <a:cs typeface="Calibri" pitchFamily="34" charset="-120"/>
                        </a:rPr>
                        <a:t>4.88%</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640080" y="6437376"/>
            <a:ext cx="10088575" cy="10973"/>
          </a:xfrm>
          <a:prstGeom prst="rect">
            <a:avLst/>
          </a:prstGeom>
          <a:solidFill>
            <a:srgbClr val="C7CDD3"/>
          </a:solidFill>
          <a:ln/>
        </p:spPr>
        <p:txBody>
          <a:bodyPr/>
          <a:lstStyle/>
          <a:p>
            <a:endParaRPr lang="en-US"/>
          </a:p>
        </p:txBody>
      </p:sp>
      <p:sp>
        <p:nvSpPr>
          <p:cNvPr id="9" name="Text 6"/>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10" name="Text 7"/>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1" name="Text 8"/>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2" name="Text 9"/>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3" name="Shape 10"/>
          <p:cNvSpPr/>
          <p:nvPr/>
        </p:nvSpPr>
        <p:spPr>
          <a:xfrm>
            <a:off x="7365797" y="6437376"/>
            <a:ext cx="1635709" cy="27432"/>
          </a:xfrm>
          <a:prstGeom prst="rect">
            <a:avLst/>
          </a:prstGeom>
          <a:solidFill>
            <a:srgbClr val="0097A7"/>
          </a:solidFill>
          <a:ln/>
        </p:spPr>
        <p:txBody>
          <a:bodyPr/>
          <a:lstStyle/>
          <a:p>
            <a:endParaRPr lang="en-US"/>
          </a:p>
        </p:txBody>
      </p:sp>
      <p:sp>
        <p:nvSpPr>
          <p:cNvPr id="14" name="Text 11"/>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Results</a:t>
            </a:r>
            <a:endParaRPr lang="en-US" sz="850" dirty="0"/>
          </a:p>
        </p:txBody>
      </p:sp>
      <p:sp>
        <p:nvSpPr>
          <p:cNvPr id="15" name="Text 12"/>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6" name="Text 13"/>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14 / 19</a:t>
            </a:r>
            <a:endParaRPr lang="en-US" sz="1050" dirty="0"/>
          </a:p>
        </p:txBody>
      </p:sp>
      <p:graphicFrame>
        <p:nvGraphicFramePr>
          <p:cNvPr id="17" name="Table 16"/>
          <p:cNvGraphicFramePr>
            <a:graphicFrameLocks noGrp="1"/>
          </p:cNvGraphicFramePr>
          <p:nvPr/>
        </p:nvGraphicFramePr>
        <p:xfrm>
          <a:off x="640080" y="4572000"/>
          <a:ext cx="3291840" cy="1280155"/>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256031">
                <a:tc>
                  <a:txBody>
                    <a:bodyPr/>
                    <a:lstStyle/>
                    <a:p>
                      <a:pPr algn="l"/>
                      <a:r>
                        <a:rPr sz="950" b="1">
                          <a:solidFill>
                            <a:srgbClr val="FFFFFF"/>
                          </a:solidFill>
                          <a:latin typeface="Calibri"/>
                        </a:rPr>
                        <a:t>Metric</a:t>
                      </a:r>
                    </a:p>
                  </a:txBody>
                  <a:tcPr marL="45720" marR="45720" marT="18288" marB="18288" anchor="ctr">
                    <a:solidFill>
                      <a:srgbClr val="0E2A47"/>
                    </a:solidFill>
                  </a:tcPr>
                </a:tc>
                <a:tc>
                  <a:txBody>
                    <a:bodyPr/>
                    <a:lstStyle/>
                    <a:p>
                      <a:pPr algn="ctr"/>
                      <a:r>
                        <a:rPr sz="950" b="1">
                          <a:solidFill>
                            <a:srgbClr val="FFFFFF"/>
                          </a:solidFill>
                          <a:latin typeface="Calibri"/>
                        </a:rPr>
                        <a:t>Value</a:t>
                      </a:r>
                    </a:p>
                  </a:txBody>
                  <a:tcPr marL="45720" marR="45720" marT="18288" marB="18288" anchor="ctr">
                    <a:solidFill>
                      <a:srgbClr val="0E2A47"/>
                    </a:solidFill>
                  </a:tcPr>
                </a:tc>
                <a:extLst>
                  <a:ext uri="{0D108BD9-81ED-4DB2-BD59-A6C34878D82A}">
                    <a16:rowId xmlns:a16="http://schemas.microsoft.com/office/drawing/2014/main" val="10000"/>
                  </a:ext>
                </a:extLst>
              </a:tr>
              <a:tr h="256031">
                <a:tc>
                  <a:txBody>
                    <a:bodyPr/>
                    <a:lstStyle/>
                    <a:p>
                      <a:pPr algn="l"/>
                      <a:r>
                        <a:rPr sz="950" b="0">
                          <a:solidFill>
                            <a:srgbClr val="1A1A1A"/>
                          </a:solidFill>
                          <a:latin typeface="Calibri"/>
                        </a:rPr>
                        <a:t>EER</a:t>
                      </a:r>
                    </a:p>
                  </a:txBody>
                  <a:tcPr marL="45720" marR="45720" marT="18288" marB="18288" anchor="ctr">
                    <a:solidFill>
                      <a:srgbClr val="FFFFFF"/>
                    </a:solidFill>
                  </a:tcPr>
                </a:tc>
                <a:tc>
                  <a:txBody>
                    <a:bodyPr/>
                    <a:lstStyle/>
                    <a:p>
                      <a:pPr algn="ctr"/>
                      <a:r>
                        <a:rPr sz="950" b="0">
                          <a:solidFill>
                            <a:srgbClr val="1A1A1A"/>
                          </a:solidFill>
                          <a:latin typeface="Calibri"/>
                        </a:rPr>
                        <a:t>9.10%</a:t>
                      </a:r>
                    </a:p>
                  </a:txBody>
                  <a:tcPr marL="45720" marR="45720" marT="18288" marB="18288" anchor="ctr">
                    <a:solidFill>
                      <a:srgbClr val="FFFFFF"/>
                    </a:solidFill>
                  </a:tcPr>
                </a:tc>
                <a:extLst>
                  <a:ext uri="{0D108BD9-81ED-4DB2-BD59-A6C34878D82A}">
                    <a16:rowId xmlns:a16="http://schemas.microsoft.com/office/drawing/2014/main" val="10001"/>
                  </a:ext>
                </a:extLst>
              </a:tr>
              <a:tr h="256031">
                <a:tc>
                  <a:txBody>
                    <a:bodyPr/>
                    <a:lstStyle/>
                    <a:p>
                      <a:pPr algn="l"/>
                      <a:r>
                        <a:rPr sz="950" b="0">
                          <a:solidFill>
                            <a:srgbClr val="1A1A1A"/>
                          </a:solidFill>
                          <a:latin typeface="Calibri"/>
                        </a:rPr>
                        <a:t>Rank-1 (51/64)</a:t>
                      </a:r>
                    </a:p>
                  </a:txBody>
                  <a:tcPr marL="45720" marR="45720" marT="18288" marB="18288" anchor="ctr">
                    <a:solidFill>
                      <a:srgbClr val="F2F4F6"/>
                    </a:solidFill>
                  </a:tcPr>
                </a:tc>
                <a:tc>
                  <a:txBody>
                    <a:bodyPr/>
                    <a:lstStyle/>
                    <a:p>
                      <a:pPr algn="ctr"/>
                      <a:r>
                        <a:rPr sz="950" b="0">
                          <a:solidFill>
                            <a:srgbClr val="1A1A1A"/>
                          </a:solidFill>
                          <a:latin typeface="Calibri"/>
                        </a:rPr>
                        <a:t>79.69%</a:t>
                      </a:r>
                    </a:p>
                  </a:txBody>
                  <a:tcPr marL="45720" marR="45720" marT="18288" marB="18288" anchor="ctr">
                    <a:solidFill>
                      <a:srgbClr val="F2F4F6"/>
                    </a:solidFill>
                  </a:tcPr>
                </a:tc>
                <a:extLst>
                  <a:ext uri="{0D108BD9-81ED-4DB2-BD59-A6C34878D82A}">
                    <a16:rowId xmlns:a16="http://schemas.microsoft.com/office/drawing/2014/main" val="10002"/>
                  </a:ext>
                </a:extLst>
              </a:tr>
              <a:tr h="256031">
                <a:tc>
                  <a:txBody>
                    <a:bodyPr/>
                    <a:lstStyle/>
                    <a:p>
                      <a:pPr algn="l"/>
                      <a:r>
                        <a:rPr sz="950" b="0">
                          <a:solidFill>
                            <a:srgbClr val="1A1A1A"/>
                          </a:solidFill>
                          <a:latin typeface="Calibri"/>
                        </a:rPr>
                        <a:t>AUC</a:t>
                      </a:r>
                    </a:p>
                  </a:txBody>
                  <a:tcPr marL="45720" marR="45720" marT="18288" marB="18288" anchor="ctr">
                    <a:solidFill>
                      <a:srgbClr val="FFFFFF"/>
                    </a:solidFill>
                  </a:tcPr>
                </a:tc>
                <a:tc>
                  <a:txBody>
                    <a:bodyPr/>
                    <a:lstStyle/>
                    <a:p>
                      <a:pPr algn="ctr"/>
                      <a:r>
                        <a:rPr sz="950" b="0">
                          <a:solidFill>
                            <a:srgbClr val="1A1A1A"/>
                          </a:solidFill>
                          <a:latin typeface="Calibri"/>
                        </a:rPr>
                        <a:t>0.9538</a:t>
                      </a:r>
                    </a:p>
                  </a:txBody>
                  <a:tcPr marL="45720" marR="45720" marT="18288" marB="18288" anchor="ctr">
                    <a:solidFill>
                      <a:srgbClr val="FFFFFF"/>
                    </a:solidFill>
                  </a:tcPr>
                </a:tc>
                <a:extLst>
                  <a:ext uri="{0D108BD9-81ED-4DB2-BD59-A6C34878D82A}">
                    <a16:rowId xmlns:a16="http://schemas.microsoft.com/office/drawing/2014/main" val="10003"/>
                  </a:ext>
                </a:extLst>
              </a:tr>
              <a:tr h="256031">
                <a:tc>
                  <a:txBody>
                    <a:bodyPr/>
                    <a:lstStyle/>
                    <a:p>
                      <a:pPr algn="l"/>
                      <a:r>
                        <a:rPr sz="950" b="0">
                          <a:solidFill>
                            <a:srgbClr val="1A1A1A"/>
                          </a:solidFill>
                          <a:latin typeface="Calibri"/>
                        </a:rPr>
                        <a:t>FOP baseline</a:t>
                      </a:r>
                    </a:p>
                  </a:txBody>
                  <a:tcPr marL="45720" marR="45720" marT="18288" marB="18288" anchor="ctr">
                    <a:solidFill>
                      <a:srgbClr val="F2F4F6"/>
                    </a:solidFill>
                  </a:tcPr>
                </a:tc>
                <a:tc>
                  <a:txBody>
                    <a:bodyPr/>
                    <a:lstStyle/>
                    <a:p>
                      <a:pPr algn="ctr"/>
                      <a:r>
                        <a:rPr sz="950" b="0">
                          <a:solidFill>
                            <a:srgbClr val="1A1A1A"/>
                          </a:solidFill>
                          <a:latin typeface="Calibri"/>
                        </a:rPr>
                        <a:t>37.90%</a:t>
                      </a:r>
                    </a:p>
                  </a:txBody>
                  <a:tcPr marL="45720" marR="45720" marT="18288" marB="18288" anchor="ctr">
                    <a:solidFill>
                      <a:srgbClr val="F2F4F6"/>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640080" y="4279392"/>
            <a:ext cx="3657600" cy="274320"/>
          </a:xfrm>
          <a:prstGeom prst="rect">
            <a:avLst/>
          </a:prstGeom>
          <a:noFill/>
        </p:spPr>
        <p:txBody>
          <a:bodyPr wrap="none">
            <a:spAutoFit/>
          </a:bodyPr>
          <a:lstStyle/>
          <a:p>
            <a:r>
              <a:rPr sz="1200" b="1">
                <a:solidFill>
                  <a:srgbClr val="0E2A47"/>
                </a:solidFill>
                <a:latin typeface="Calibri"/>
              </a:rPr>
              <a:t>Urdu Verification</a:t>
            </a:r>
          </a:p>
        </p:txBody>
      </p:sp>
      <p:sp>
        <p:nvSpPr>
          <p:cNvPr id="19" name="TextBox 18"/>
          <p:cNvSpPr txBox="1"/>
          <p:nvPr/>
        </p:nvSpPr>
        <p:spPr>
          <a:xfrm>
            <a:off x="4206240" y="4572000"/>
            <a:ext cx="7315200" cy="1188720"/>
          </a:xfrm>
          <a:prstGeom prst="rect">
            <a:avLst/>
          </a:prstGeom>
          <a:noFill/>
        </p:spPr>
        <p:txBody>
          <a:bodyPr wrap="square">
            <a:spAutoFit/>
          </a:bodyPr>
          <a:lstStyle/>
          <a:p>
            <a:r>
              <a:rPr sz="1100">
                <a:solidFill>
                  <a:srgbClr val="1A1A1A"/>
                </a:solidFill>
                <a:latin typeface="Calibri"/>
              </a:rPr>
              <a:t>Known identities, unseen language, unseen recordings. At this threshold, roughly 1 in 11 verification attempts is misclassified: a substantial reduction from the published baseline.</a:t>
            </a:r>
          </a:p>
        </p:txBody>
      </p:sp>
      <p:sp>
        <p:nvSpPr>
          <p:cNvPr id="20" name="TextBox 19"/>
          <p:cNvSpPr txBox="1"/>
          <p:nvPr/>
        </p:nvSpPr>
        <p:spPr>
          <a:xfrm>
            <a:off x="640080" y="5897880"/>
            <a:ext cx="10881360" cy="457200"/>
          </a:xfrm>
          <a:prstGeom prst="rect">
            <a:avLst/>
          </a:prstGeom>
          <a:noFill/>
        </p:spPr>
        <p:txBody>
          <a:bodyPr wrap="square">
            <a:spAutoFit/>
          </a:bodyPr>
          <a:lstStyle/>
          <a:p>
            <a:r>
              <a:rPr sz="1050" i="1">
                <a:solidFill>
                  <a:srgbClr val="8A3324"/>
                </a:solidFill>
                <a:latin typeface="Calibri"/>
              </a:rPr>
              <a:t>Protocol note: not the fully unseen-unheard protocol FOP and FAME use; the comparison above is directional, not strict.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5   EXPERIMENTAL RESULTS</a:t>
            </a:r>
            <a:endParaRPr lang="en-US" sz="1100" dirty="0"/>
          </a:p>
        </p:txBody>
      </p:sp>
      <p:sp>
        <p:nvSpPr>
          <p:cNvPr id="3" name="Text 1"/>
          <p:cNvSpPr/>
          <p:nvPr/>
        </p:nvSpPr>
        <p:spPr>
          <a:xfrm>
            <a:off x="640080" y="685800"/>
            <a:ext cx="9144000" cy="457200"/>
          </a:xfrm>
          <a:prstGeom prst="rect">
            <a:avLst/>
          </a:prstGeom>
          <a:noFill/>
          <a:ln/>
        </p:spPr>
        <p:txBody>
          <a:bodyPr wrap="square" lIns="0" tIns="0" rIns="0" bIns="0" rtlCol="0" anchor="ctr"/>
          <a:lstStyle/>
          <a:p>
            <a:pPr marL="0" indent="0">
              <a:buNone/>
            </a:pPr>
            <a:r>
              <a:rPr lang="en-US" sz="2300" b="1" dirty="0">
                <a:solidFill>
                  <a:srgbClr val="1A1A1A"/>
                </a:solidFill>
                <a:latin typeface="Cambria" pitchFamily="34" charset="0"/>
                <a:ea typeface="Cambria" pitchFamily="34" charset="-122"/>
                <a:cs typeface="Cambria" pitchFamily="34" charset="-120"/>
              </a:rPr>
              <a:t>Embedding Space Visualization</a:t>
            </a:r>
            <a:endParaRPr lang="en-US" sz="23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pic>
        <p:nvPicPr>
          <p:cNvPr id="5" name="Image 0" descr="/home/claude/ppt/figs/fig12_tsne.png"/>
          <p:cNvPicPr>
            <a:picLocks noChangeAspect="1"/>
          </p:cNvPicPr>
          <p:nvPr/>
        </p:nvPicPr>
        <p:blipFill>
          <a:blip r:embed="rId3"/>
          <a:stretch>
            <a:fillRect/>
          </a:stretch>
        </p:blipFill>
        <p:spPr>
          <a:xfrm>
            <a:off x="640080" y="1463040"/>
            <a:ext cx="4572000" cy="3409736"/>
          </a:xfrm>
          <a:prstGeom prst="rect">
            <a:avLst/>
          </a:prstGeom>
        </p:spPr>
      </p:pic>
      <p:pic>
        <p:nvPicPr>
          <p:cNvPr id="6" name="Image 1" descr="/home/claude/ppt/figs/fig13_umap.png"/>
          <p:cNvPicPr>
            <a:picLocks noChangeAspect="1"/>
          </p:cNvPicPr>
          <p:nvPr/>
        </p:nvPicPr>
        <p:blipFill>
          <a:blip r:embed="rId4"/>
          <a:stretch>
            <a:fillRect/>
          </a:stretch>
        </p:blipFill>
        <p:spPr>
          <a:xfrm>
            <a:off x="5394960" y="1463040"/>
            <a:ext cx="4572000" cy="3401161"/>
          </a:xfrm>
          <a:prstGeom prst="rect">
            <a:avLst/>
          </a:prstGeom>
        </p:spPr>
      </p:pic>
      <p:sp>
        <p:nvSpPr>
          <p:cNvPr id="7" name="Text 3"/>
          <p:cNvSpPr/>
          <p:nvPr/>
        </p:nvSpPr>
        <p:spPr>
          <a:xfrm>
            <a:off x="640080" y="4846320"/>
            <a:ext cx="4572000" cy="640080"/>
          </a:xfrm>
          <a:prstGeom prst="rect">
            <a:avLst/>
          </a:prstGeom>
          <a:noFill/>
          <a:ln/>
        </p:spPr>
        <p:txBody>
          <a:bodyPr wrap="square" lIns="0" tIns="0" rIns="0" bIns="0" rtlCol="0" anchor="ctr"/>
          <a:lstStyle/>
          <a:p>
            <a:pPr marL="0" indent="0">
              <a:buNone/>
            </a:pPr>
            <a:r>
              <a:rPr lang="en-US" sz="900" i="1" dirty="0">
                <a:solidFill>
                  <a:srgbClr val="5A6672"/>
                </a:solidFill>
                <a:latin typeface="Calibri" pitchFamily="34" charset="0"/>
                <a:ea typeface="Calibri" pitchFamily="34" charset="-122"/>
                <a:cs typeface="Calibri" pitchFamily="34" charset="-120"/>
              </a:rPr>
              <a:t>t-SNE projection: matching face and voice points from the same identity should land close together, since t-SNE preserves local neighborhood structure.</a:t>
            </a:r>
            <a:endParaRPr lang="en-US" sz="900" dirty="0"/>
          </a:p>
        </p:txBody>
      </p:sp>
      <p:sp>
        <p:nvSpPr>
          <p:cNvPr id="8" name="Text 4"/>
          <p:cNvSpPr/>
          <p:nvPr/>
        </p:nvSpPr>
        <p:spPr>
          <a:xfrm>
            <a:off x="5394960" y="4846320"/>
            <a:ext cx="4572000" cy="640080"/>
          </a:xfrm>
          <a:prstGeom prst="rect">
            <a:avLst/>
          </a:prstGeom>
          <a:noFill/>
          <a:ln/>
        </p:spPr>
        <p:txBody>
          <a:bodyPr wrap="square" lIns="0" tIns="0" rIns="0" bIns="0" rtlCol="0" anchor="ctr"/>
          <a:lstStyle/>
          <a:p>
            <a:pPr marL="0" indent="0">
              <a:buNone/>
            </a:pPr>
            <a:r>
              <a:rPr lang="en-US" sz="900" i="1" dirty="0">
                <a:solidFill>
                  <a:srgbClr val="5A6672"/>
                </a:solidFill>
                <a:latin typeface="Calibri" pitchFamily="34" charset="0"/>
                <a:ea typeface="Calibri" pitchFamily="34" charset="-122"/>
                <a:cs typeface="Calibri" pitchFamily="34" charset="-120"/>
              </a:rPr>
              <a:t>UMAP projection: the same expectation, checked with a method that better preserves global structure between clusters.</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0104120" y="1463040"/>
          <a:ext cx="1417320" cy="274320"/>
        </p:xfrm>
        <a:graphic>
          <a:graphicData uri="http://schemas.openxmlformats.org/drawingml/2006/table">
            <a:tbl>
              <a:tblPr/>
              <a:tblGrid>
                <a:gridCol w="1417320">
                  <a:extLst>
                    <a:ext uri="{9D8B030D-6E8A-4147-A177-3AD203B41FA5}">
                      <a16:colId xmlns:a16="http://schemas.microsoft.com/office/drawing/2014/main" val="20000"/>
                    </a:ext>
                  </a:extLst>
                </a:gridCol>
              </a:tblGrid>
              <a:tr h="2743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t-SNE</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10104120" y="1737360"/>
          <a:ext cx="1417320" cy="1280160"/>
        </p:xfrm>
        <a:graphic>
          <a:graphicData uri="http://schemas.openxmlformats.org/drawingml/2006/table">
            <a:tbl>
              <a:tblPr/>
              <a:tblGrid>
                <a:gridCol w="708660">
                  <a:extLst>
                    <a:ext uri="{9D8B030D-6E8A-4147-A177-3AD203B41FA5}">
                      <a16:colId xmlns:a16="http://schemas.microsoft.com/office/drawing/2014/main" val="20000"/>
                    </a:ext>
                  </a:extLst>
                </a:gridCol>
                <a:gridCol w="708660">
                  <a:extLst>
                    <a:ext uri="{9D8B030D-6E8A-4147-A177-3AD203B41FA5}">
                      <a16:colId xmlns:a16="http://schemas.microsoft.com/office/drawing/2014/main" val="20001"/>
                    </a:ext>
                  </a:extLst>
                </a:gridCol>
              </a:tblGrid>
              <a:tr h="256032">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256032">
                <a:tc>
                  <a:txBody>
                    <a:bodyPr/>
                    <a:lstStyle/>
                    <a:p>
                      <a:pPr marL="0" indent="0" algn="l">
                        <a:buNone/>
                      </a:pPr>
                      <a:r>
                        <a:rPr lang="en-US" sz="900" dirty="0">
                          <a:solidFill>
                            <a:srgbClr val="1A1A1A"/>
                          </a:solidFill>
                          <a:latin typeface="Calibri" pitchFamily="34" charset="0"/>
                          <a:ea typeface="Calibri" pitchFamily="34" charset="-122"/>
                          <a:cs typeface="Calibri" pitchFamily="34" charset="-120"/>
                        </a:rPr>
                        <a:t>Perplexity</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A1A1A"/>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900" dirty="0">
                          <a:solidFill>
                            <a:srgbClr val="1A1A1A"/>
                          </a:solidFill>
                          <a:latin typeface="Calibri" pitchFamily="34" charset="0"/>
                          <a:ea typeface="Calibri" pitchFamily="34" charset="-122"/>
                          <a:cs typeface="Calibri" pitchFamily="34" charset="-120"/>
                        </a:rPr>
                        <a:t>Early exag.</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900" dirty="0">
                          <a:solidFill>
                            <a:srgbClr val="1A1A1A"/>
                          </a:solidFill>
                          <a:latin typeface="Calibri" pitchFamily="34" charset="0"/>
                          <a:ea typeface="Calibri" pitchFamily="34" charset="-122"/>
                          <a:cs typeface="Calibri" pitchFamily="34" charset="-120"/>
                        </a:rPr>
                        <a:t>24.0</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256032">
                <a:tc>
                  <a:txBody>
                    <a:bodyPr/>
                    <a:lstStyle/>
                    <a:p>
                      <a:pPr marL="0" indent="0" algn="l">
                        <a:buNone/>
                      </a:pPr>
                      <a:r>
                        <a:rPr lang="en-US" sz="900" dirty="0">
                          <a:solidFill>
                            <a:srgbClr val="1A1A1A"/>
                          </a:solidFill>
                          <a:latin typeface="Calibri" pitchFamily="34" charset="0"/>
                          <a:ea typeface="Calibri" pitchFamily="34" charset="-122"/>
                          <a:cs typeface="Calibri" pitchFamily="34" charset="-120"/>
                        </a:rPr>
                        <a:t>Init</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A1A1A"/>
                          </a:solidFill>
                          <a:latin typeface="Calibri" pitchFamily="34" charset="0"/>
                          <a:ea typeface="Calibri" pitchFamily="34" charset="-122"/>
                          <a:cs typeface="Calibri" pitchFamily="34" charset="-120"/>
                        </a:rPr>
                        <a:t>PCA</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900" dirty="0">
                          <a:solidFill>
                            <a:srgbClr val="1A1A1A"/>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900" dirty="0">
                          <a:solidFill>
                            <a:srgbClr val="1A1A1A"/>
                          </a:solidFill>
                          <a:latin typeface="Calibri" pitchFamily="34" charset="0"/>
                          <a:ea typeface="Calibri" pitchFamily="34" charset="-122"/>
                          <a:cs typeface="Calibri" pitchFamily="34" charset="-120"/>
                        </a:rPr>
                        <a:t>cosine</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bl>
          </a:graphicData>
        </a:graphic>
      </p:graphicFrame>
      <p:graphicFrame>
        <p:nvGraphicFramePr>
          <p:cNvPr id="55" name="Table 2"/>
          <p:cNvGraphicFramePr>
            <a:graphicFrameLocks noGrp="1"/>
          </p:cNvGraphicFramePr>
          <p:nvPr>
            <p:extLst>
              <p:ext uri="{D42A27DB-BD31-4B8C-83A1-F6EECF244321}">
                <p14:modId xmlns:p14="http://schemas.microsoft.com/office/powerpoint/2010/main" val="1579011935"/>
              </p:ext>
            </p:extLst>
          </p:nvPr>
        </p:nvGraphicFramePr>
        <p:xfrm>
          <a:off x="10104120" y="3246120"/>
          <a:ext cx="1417320" cy="274320"/>
        </p:xfrm>
        <a:graphic>
          <a:graphicData uri="http://schemas.openxmlformats.org/drawingml/2006/table">
            <a:tbl>
              <a:tblPr/>
              <a:tblGrid>
                <a:gridCol w="1417320">
                  <a:extLst>
                    <a:ext uri="{9D8B030D-6E8A-4147-A177-3AD203B41FA5}">
                      <a16:colId xmlns:a16="http://schemas.microsoft.com/office/drawing/2014/main" val="20000"/>
                    </a:ext>
                  </a:extLst>
                </a:gridCol>
              </a:tblGrid>
              <a:tr h="27432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UMAP</a:t>
                      </a:r>
                      <a:endParaRPr lang="en-US" sz="10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bl>
          </a:graphicData>
        </a:graphic>
      </p:graphicFrame>
      <p:graphicFrame>
        <p:nvGraphicFramePr>
          <p:cNvPr id="73" name="Table 3"/>
          <p:cNvGraphicFramePr>
            <a:graphicFrameLocks noGrp="1"/>
          </p:cNvGraphicFramePr>
          <p:nvPr>
            <p:extLst>
              <p:ext uri="{D42A27DB-BD31-4B8C-83A1-F6EECF244321}">
                <p14:modId xmlns:p14="http://schemas.microsoft.com/office/powerpoint/2010/main" val="1579011935"/>
              </p:ext>
            </p:extLst>
          </p:nvPr>
        </p:nvGraphicFramePr>
        <p:xfrm>
          <a:off x="10104120" y="3520440"/>
          <a:ext cx="1417320" cy="1133856"/>
        </p:xfrm>
        <a:graphic>
          <a:graphicData uri="http://schemas.openxmlformats.org/drawingml/2006/table">
            <a:tbl>
              <a:tblPr/>
              <a:tblGrid>
                <a:gridCol w="708660">
                  <a:extLst>
                    <a:ext uri="{9D8B030D-6E8A-4147-A177-3AD203B41FA5}">
                      <a16:colId xmlns:a16="http://schemas.microsoft.com/office/drawing/2014/main" val="20000"/>
                    </a:ext>
                  </a:extLst>
                </a:gridCol>
                <a:gridCol w="708660">
                  <a:extLst>
                    <a:ext uri="{9D8B030D-6E8A-4147-A177-3AD203B41FA5}">
                      <a16:colId xmlns:a16="http://schemas.microsoft.com/office/drawing/2014/main" val="20001"/>
                    </a:ext>
                  </a:extLst>
                </a:gridCol>
              </a:tblGrid>
              <a:tr h="256032">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256032">
                <a:tc>
                  <a:txBody>
                    <a:bodyPr/>
                    <a:lstStyle/>
                    <a:p>
                      <a:pPr marL="0" indent="0" algn="l">
                        <a:buNone/>
                      </a:pPr>
                      <a:r>
                        <a:rPr lang="en-US" sz="900" dirty="0">
                          <a:solidFill>
                            <a:srgbClr val="1A1A1A"/>
                          </a:solidFill>
                          <a:latin typeface="Calibri" pitchFamily="34" charset="0"/>
                          <a:ea typeface="Calibri" pitchFamily="34" charset="-122"/>
                          <a:cs typeface="Calibri" pitchFamily="34" charset="-120"/>
                        </a:rPr>
                        <a:t>n_neighbors</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A1A1A"/>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900" dirty="0">
                          <a:solidFill>
                            <a:srgbClr val="1A1A1A"/>
                          </a:solidFill>
                          <a:latin typeface="Calibri" pitchFamily="34" charset="0"/>
                          <a:ea typeface="Calibri" pitchFamily="34" charset="-122"/>
                          <a:cs typeface="Calibri" pitchFamily="34" charset="-120"/>
                        </a:rPr>
                        <a:t>min_dist</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900" dirty="0">
                          <a:solidFill>
                            <a:srgbClr val="1A1A1A"/>
                          </a:solidFill>
                          <a:latin typeface="Calibri" pitchFamily="34" charset="0"/>
                          <a:ea typeface="Calibri" pitchFamily="34" charset="-122"/>
                          <a:cs typeface="Calibri" pitchFamily="34" charset="-120"/>
                        </a:rPr>
                        <a:t>0.8</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256032">
                <a:tc>
                  <a:txBody>
                    <a:bodyPr/>
                    <a:lstStyle/>
                    <a:p>
                      <a:pPr marL="0" indent="0" algn="l">
                        <a:buNone/>
                      </a:pPr>
                      <a:r>
                        <a:rPr lang="en-US" sz="900" dirty="0">
                          <a:solidFill>
                            <a:srgbClr val="1A1A1A"/>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A1A1A"/>
                          </a:solidFill>
                          <a:latin typeface="Calibri" pitchFamily="34" charset="0"/>
                          <a:ea typeface="Calibri" pitchFamily="34" charset="-122"/>
                          <a:cs typeface="Calibri" pitchFamily="34" charset="-120"/>
                        </a:rPr>
                        <a:t>cosine</a:t>
                      </a:r>
                      <a:endParaRPr lang="en-US" sz="90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Shape 6"/>
          <p:cNvSpPr/>
          <p:nvPr/>
        </p:nvSpPr>
        <p:spPr>
          <a:xfrm>
            <a:off x="640080" y="6437376"/>
            <a:ext cx="10088575" cy="10973"/>
          </a:xfrm>
          <a:prstGeom prst="rect">
            <a:avLst/>
          </a:prstGeom>
          <a:solidFill>
            <a:srgbClr val="C7CDD3"/>
          </a:solidFill>
          <a:ln/>
        </p:spPr>
        <p:txBody>
          <a:bodyPr/>
          <a:lstStyle/>
          <a:p>
            <a:endParaRPr lang="en-US"/>
          </a:p>
        </p:txBody>
      </p:sp>
      <p:sp>
        <p:nvSpPr>
          <p:cNvPr id="15" name="Text 7"/>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16" name="Text 8"/>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7" name="Text 9"/>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8" name="Text 10"/>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9" name="Shape 11"/>
          <p:cNvSpPr/>
          <p:nvPr/>
        </p:nvSpPr>
        <p:spPr>
          <a:xfrm>
            <a:off x="7365797" y="6437376"/>
            <a:ext cx="1635709" cy="27432"/>
          </a:xfrm>
          <a:prstGeom prst="rect">
            <a:avLst/>
          </a:prstGeom>
          <a:solidFill>
            <a:srgbClr val="0097A7"/>
          </a:solidFill>
          <a:ln/>
        </p:spPr>
        <p:txBody>
          <a:bodyPr/>
          <a:lstStyle/>
          <a:p>
            <a:endParaRPr lang="en-US"/>
          </a:p>
        </p:txBody>
      </p:sp>
      <p:sp>
        <p:nvSpPr>
          <p:cNvPr id="20" name="Text 12"/>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Results</a:t>
            </a:r>
            <a:endParaRPr lang="en-US" sz="850" dirty="0"/>
          </a:p>
        </p:txBody>
      </p:sp>
      <p:sp>
        <p:nvSpPr>
          <p:cNvPr id="21" name="Text 13"/>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Conclusions</a:t>
            </a:r>
            <a:endParaRPr lang="en-US" sz="850" dirty="0"/>
          </a:p>
        </p:txBody>
      </p:sp>
      <p:sp>
        <p:nvSpPr>
          <p:cNvPr id="22" name="Text 14"/>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15 / 19</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6   CONCLUSIONS</a:t>
            </a:r>
            <a:endParaRPr lang="en-US" sz="1100" dirty="0"/>
          </a:p>
        </p:txBody>
      </p:sp>
      <p:sp>
        <p:nvSpPr>
          <p:cNvPr id="3" name="Text 1"/>
          <p:cNvSpPr/>
          <p:nvPr/>
        </p:nvSpPr>
        <p:spPr>
          <a:xfrm>
            <a:off x="640080" y="685800"/>
            <a:ext cx="7315200" cy="45720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Limitations</a:t>
            </a:r>
            <a:endParaRPr lang="en-US" sz="24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graphicFrame>
        <p:nvGraphicFramePr>
          <p:cNvPr id="20" name="Table 0"/>
          <p:cNvGraphicFramePr>
            <a:graphicFrameLocks noGrp="1"/>
          </p:cNvGraphicFramePr>
          <p:nvPr>
            <p:extLst>
              <p:ext uri="{D42A27DB-BD31-4B8C-83A1-F6EECF244321}">
                <p14:modId xmlns:p14="http://schemas.microsoft.com/office/powerpoint/2010/main" val="3121871027"/>
              </p:ext>
            </p:extLst>
          </p:nvPr>
        </p:nvGraphicFramePr>
        <p:xfrm>
          <a:off x="640080" y="1508760"/>
          <a:ext cx="10881360" cy="2971800"/>
        </p:xfrm>
        <a:graphic>
          <a:graphicData uri="http://schemas.openxmlformats.org/drawingml/2006/table">
            <a:tbl>
              <a:tblPr/>
              <a:tblGrid>
                <a:gridCol w="54406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5943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594360">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Protocol difference</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Urdu EER is known-identity, unseen-language; not directly comparable to FOP/FAME's unseen-unheard baselines</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Romanian corpus scale</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41 identities, 147 utterances: a small, preliminary evaluation</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594360">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Training set size</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198 identities, far smaller than VoxCeleb (7,000+) or VGGFace2 (9,131)</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Fusion module unused at inference</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Verification through the fused embedding alone performs at chance</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bl>
          </a:graphicData>
        </a:graphic>
      </p:graphicFrame>
      <p:sp>
        <p:nvSpPr>
          <p:cNvPr id="6" name="Shape 3"/>
          <p:cNvSpPr/>
          <p:nvPr/>
        </p:nvSpPr>
        <p:spPr>
          <a:xfrm>
            <a:off x="640080" y="6437376"/>
            <a:ext cx="10088575" cy="10973"/>
          </a:xfrm>
          <a:prstGeom prst="rect">
            <a:avLst/>
          </a:prstGeom>
          <a:solidFill>
            <a:srgbClr val="C7CDD3"/>
          </a:solidFill>
          <a:ln/>
        </p:spPr>
        <p:txBody>
          <a:bodyPr/>
          <a:lstStyle/>
          <a:p>
            <a:endParaRPr lang="en-US"/>
          </a:p>
        </p:txBody>
      </p:sp>
      <p:sp>
        <p:nvSpPr>
          <p:cNvPr id="7" name="Text 4"/>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8" name="Text 5"/>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9" name="Text 6"/>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0" name="Text 7"/>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1" name="Text 8"/>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2" name="Shape 9"/>
          <p:cNvSpPr/>
          <p:nvPr/>
        </p:nvSpPr>
        <p:spPr>
          <a:xfrm>
            <a:off x="9047226" y="6437376"/>
            <a:ext cx="1635709" cy="27432"/>
          </a:xfrm>
          <a:prstGeom prst="rect">
            <a:avLst/>
          </a:prstGeom>
          <a:solidFill>
            <a:srgbClr val="0097A7"/>
          </a:solidFill>
          <a:ln/>
        </p:spPr>
        <p:txBody>
          <a:bodyPr/>
          <a:lstStyle/>
          <a:p>
            <a:endParaRPr lang="en-US"/>
          </a:p>
        </p:txBody>
      </p:sp>
      <p:sp>
        <p:nvSpPr>
          <p:cNvPr id="13" name="Text 10"/>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Conclusions</a:t>
            </a:r>
            <a:endParaRPr lang="en-US" sz="850" dirty="0"/>
          </a:p>
        </p:txBody>
      </p:sp>
      <p:sp>
        <p:nvSpPr>
          <p:cNvPr id="14" name="Text 11"/>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16 / 19</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274320"/>
          </a:xfrm>
          <a:prstGeom prst="rect">
            <a:avLst/>
          </a:prstGeom>
          <a:noFill/>
          <a:ln/>
        </p:spPr>
        <p:txBody>
          <a:bodyPr wrap="square" lIns="0" tIns="0" rIns="0" bIns="0" rtlCol="0" anchor="ctr"/>
          <a:lstStyle/>
          <a:p>
            <a:pPr marL="0" indent="0">
              <a:buNone/>
            </a:pPr>
            <a:r>
              <a:rPr lang="en-US" sz="1100" b="1" kern="0" spc="200" dirty="0">
                <a:solidFill>
                  <a:srgbClr val="0097A7"/>
                </a:solidFill>
                <a:latin typeface="Calibri" pitchFamily="34" charset="0"/>
                <a:ea typeface="Calibri" pitchFamily="34" charset="-122"/>
                <a:cs typeface="Calibri" pitchFamily="34" charset="-120"/>
              </a:rPr>
              <a:t>6   CONCLUSIONS</a:t>
            </a:r>
            <a:endParaRPr lang="en-US" sz="1100" dirty="0"/>
          </a:p>
        </p:txBody>
      </p:sp>
      <p:sp>
        <p:nvSpPr>
          <p:cNvPr id="3" name="Text 1"/>
          <p:cNvSpPr/>
          <p:nvPr/>
        </p:nvSpPr>
        <p:spPr>
          <a:xfrm>
            <a:off x="640080" y="685800"/>
            <a:ext cx="9144000" cy="457200"/>
          </a:xfrm>
          <a:prstGeom prst="rect">
            <a:avLst/>
          </a:prstGeom>
          <a:noFill/>
          <a:ln/>
        </p:spPr>
        <p:txBody>
          <a:bodyPr wrap="square" lIns="0" tIns="0" rIns="0" bIns="0" rtlCol="0" anchor="ctr"/>
          <a:lstStyle/>
          <a:p>
            <a:pPr marL="0" indent="0">
              <a:buNone/>
            </a:pPr>
            <a:r>
              <a:rPr lang="en-US" sz="2300" b="1" dirty="0">
                <a:solidFill>
                  <a:srgbClr val="1A1A1A"/>
                </a:solidFill>
                <a:latin typeface="Cambria" pitchFamily="34" charset="0"/>
                <a:ea typeface="Cambria" pitchFamily="34" charset="-122"/>
                <a:cs typeface="Cambria" pitchFamily="34" charset="-120"/>
              </a:rPr>
              <a:t>Contributions and Future Work</a:t>
            </a:r>
            <a:endParaRPr lang="en-US" sz="2300" dirty="0"/>
          </a:p>
        </p:txBody>
      </p:sp>
      <p:sp>
        <p:nvSpPr>
          <p:cNvPr id="4" name="Shape 2"/>
          <p:cNvSpPr/>
          <p:nvPr/>
        </p:nvSpPr>
        <p:spPr>
          <a:xfrm>
            <a:off x="640080" y="1234440"/>
            <a:ext cx="10911535" cy="16459"/>
          </a:xfrm>
          <a:prstGeom prst="rect">
            <a:avLst/>
          </a:prstGeom>
          <a:solidFill>
            <a:srgbClr val="0E2A47"/>
          </a:solidFill>
          <a:ln/>
        </p:spPr>
        <p:txBody>
          <a:bodyPr/>
          <a:lstStyle/>
          <a:p>
            <a:endParaRPr lang="en-US"/>
          </a:p>
        </p:txBody>
      </p:sp>
      <p:sp>
        <p:nvSpPr>
          <p:cNvPr id="5" name="Text 3"/>
          <p:cNvSpPr/>
          <p:nvPr/>
        </p:nvSpPr>
        <p:spPr>
          <a:xfrm>
            <a:off x="640080" y="1508760"/>
            <a:ext cx="5120640" cy="36576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Contributions</a:t>
            </a:r>
            <a:endParaRPr lang="en-US" sz="1500" dirty="0"/>
          </a:p>
        </p:txBody>
      </p:sp>
      <p:sp>
        <p:nvSpPr>
          <p:cNvPr id="6" name="Text 4"/>
          <p:cNvSpPr/>
          <p:nvPr/>
        </p:nvSpPr>
        <p:spPr>
          <a:xfrm>
            <a:off x="640080" y="1920240"/>
            <a:ext cx="5120640" cy="2377440"/>
          </a:xfrm>
          <a:prstGeom prst="rect">
            <a:avLst/>
          </a:prstGeom>
          <a:noFill/>
          <a:ln/>
        </p:spPr>
        <p:txBody>
          <a:bodyPr wrap="square" lIns="0" tIns="0" rIns="0" bIns="0" rtlCol="0" anchor="t"/>
          <a:lstStyle/>
          <a:p>
            <a:pPr marL="0" indent="0">
              <a:buNone/>
            </a:pPr>
            <a:r>
              <a:rPr lang="en-US" sz="1250" b="1" dirty="0">
                <a:solidFill>
                  <a:srgbClr val="1A1A1A"/>
                </a:solidFill>
              </a:rPr>
              <a:t>RO-FaceVoice corpus: </a:t>
            </a:r>
            <a:r>
              <a:rPr lang="en-US" sz="1250" dirty="0">
                <a:solidFill>
                  <a:srgbClr val="1A1A1A"/>
                </a:solidFill>
              </a:rPr>
              <a:t>first Romanian face-voice dataset, extending the field to a previously uncovered language.
</a:t>
            </a:r>
            <a:r>
              <a:rPr lang="en-US" sz="1250" b="1" dirty="0">
                <a:solidFill>
                  <a:srgbClr val="1A1A1A"/>
                </a:solidFill>
              </a:rPr>
              <a:t>The comparison method:</a:t>
            </a:r>
            <a:r>
              <a:rPr lang="en-US" sz="1250" dirty="0">
                <a:solidFill>
                  <a:srgbClr val="1A1A1A"/>
                </a:solidFill>
              </a:rPr>
              <a:t> evidence for how much each architectural decision contributes.</a:t>
            </a:r>
            <a:endParaRPr lang="en-US" sz="1250" dirty="0"/>
          </a:p>
        </p:txBody>
      </p:sp>
      <p:sp>
        <p:nvSpPr>
          <p:cNvPr id="7" name="Text 5"/>
          <p:cNvSpPr/>
          <p:nvPr/>
        </p:nvSpPr>
        <p:spPr>
          <a:xfrm>
            <a:off x="6035040" y="1508760"/>
            <a:ext cx="5120640" cy="365760"/>
          </a:xfrm>
          <a:prstGeom prst="rect">
            <a:avLst/>
          </a:prstGeom>
          <a:noFill/>
          <a:ln/>
        </p:spPr>
        <p:txBody>
          <a:bodyPr wrap="square" lIns="0" tIns="0" rIns="0" bIns="0" rtlCol="0" anchor="ctr"/>
          <a:lstStyle/>
          <a:p>
            <a:pPr marL="0" indent="0">
              <a:buNone/>
            </a:pPr>
            <a:r>
              <a:rPr lang="en-US" sz="1500" b="1" dirty="0">
                <a:solidFill>
                  <a:srgbClr val="0E2A47"/>
                </a:solidFill>
                <a:latin typeface="Calibri" pitchFamily="34" charset="0"/>
                <a:ea typeface="Calibri" pitchFamily="34" charset="-122"/>
                <a:cs typeface="Calibri" pitchFamily="34" charset="-120"/>
              </a:rPr>
              <a:t>Future Work</a:t>
            </a:r>
            <a:endParaRPr lang="en-US" sz="1500" dirty="0"/>
          </a:p>
        </p:txBody>
      </p:sp>
      <p:sp>
        <p:nvSpPr>
          <p:cNvPr id="8" name="Text 6"/>
          <p:cNvSpPr/>
          <p:nvPr/>
        </p:nvSpPr>
        <p:spPr>
          <a:xfrm>
            <a:off x="6035040" y="1920240"/>
            <a:ext cx="5120640" cy="2743200"/>
          </a:xfrm>
          <a:prstGeom prst="rect">
            <a:avLst/>
          </a:prstGeom>
          <a:noFill/>
          <a:ln/>
        </p:spPr>
        <p:txBody>
          <a:bodyPr wrap="square" lIns="0" tIns="0" rIns="0" bIns="0" rtlCol="0" anchor="t"/>
          <a:lstStyle/>
          <a:p>
            <a:pPr marL="0" indent="0">
              <a:buNone/>
            </a:pPr>
            <a:r>
              <a:rPr lang="en-US" sz="1250" b="1" dirty="0">
                <a:solidFill>
                  <a:srgbClr val="1A1A1A"/>
                </a:solidFill>
              </a:rPr>
              <a:t>Expand the dataset: </a:t>
            </a:r>
            <a:endParaRPr lang="en-US" sz="1250" dirty="0"/>
          </a:p>
          <a:p>
            <a:pPr marL="0" indent="0">
              <a:buNone/>
            </a:pPr>
            <a:r>
              <a:rPr lang="en-US" sz="1150" dirty="0">
                <a:solidFill>
                  <a:srgbClr val="5A6672"/>
                </a:solidFill>
              </a:rPr>
              <a:t>more identities and utterances, especially for Romanian.
</a:t>
            </a:r>
            <a:endParaRPr lang="en-US" sz="1250" dirty="0"/>
          </a:p>
          <a:p>
            <a:pPr marL="0" indent="0">
              <a:buNone/>
            </a:pPr>
            <a:r>
              <a:rPr lang="en-US" sz="1250" b="1" dirty="0">
                <a:solidFill>
                  <a:srgbClr val="1A1A1A"/>
                </a:solidFill>
              </a:rPr>
              <a:t>Diagnose the fusion module: </a:t>
            </a:r>
            <a:endParaRPr lang="en-US" sz="1250" dirty="0"/>
          </a:p>
          <a:p>
            <a:pPr marL="0" indent="0">
              <a:buNone/>
            </a:pPr>
            <a:r>
              <a:rPr lang="en-US" sz="1150" dirty="0">
                <a:solidFill>
                  <a:srgbClr val="5A6672"/>
                </a:solidFill>
              </a:rPr>
              <a:t>why cross-attention collapses to chance when relied on alone at inference.</a:t>
            </a:r>
            <a:endParaRPr lang="en-US" sz="1250" dirty="0"/>
          </a:p>
        </p:txBody>
      </p:sp>
      <p:sp>
        <p:nvSpPr>
          <p:cNvPr id="9" name="Shape 7"/>
          <p:cNvSpPr/>
          <p:nvPr/>
        </p:nvSpPr>
        <p:spPr>
          <a:xfrm>
            <a:off x="640080" y="6437376"/>
            <a:ext cx="10088575" cy="10973"/>
          </a:xfrm>
          <a:prstGeom prst="rect">
            <a:avLst/>
          </a:prstGeom>
          <a:solidFill>
            <a:srgbClr val="C7CDD3"/>
          </a:solidFill>
          <a:ln/>
        </p:spPr>
        <p:txBody>
          <a:bodyPr/>
          <a:lstStyle/>
          <a:p>
            <a:endParaRPr lang="en-US"/>
          </a:p>
        </p:txBody>
      </p:sp>
      <p:sp>
        <p:nvSpPr>
          <p:cNvPr id="10" name="Text 8"/>
          <p:cNvSpPr/>
          <p:nvPr/>
        </p:nvSpPr>
        <p:spPr>
          <a:xfrm>
            <a:off x="640080"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Intro</a:t>
            </a:r>
            <a:endParaRPr lang="en-US" sz="850" dirty="0"/>
          </a:p>
        </p:txBody>
      </p:sp>
      <p:sp>
        <p:nvSpPr>
          <p:cNvPr id="11" name="Text 9"/>
          <p:cNvSpPr/>
          <p:nvPr/>
        </p:nvSpPr>
        <p:spPr>
          <a:xfrm>
            <a:off x="2321509"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State of the Art</a:t>
            </a:r>
            <a:endParaRPr lang="en-US" sz="850" dirty="0"/>
          </a:p>
        </p:txBody>
      </p:sp>
      <p:sp>
        <p:nvSpPr>
          <p:cNvPr id="12" name="Text 10"/>
          <p:cNvSpPr/>
          <p:nvPr/>
        </p:nvSpPr>
        <p:spPr>
          <a:xfrm>
            <a:off x="400293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Theoretical Foundation</a:t>
            </a:r>
            <a:endParaRPr lang="en-US" sz="850" dirty="0"/>
          </a:p>
        </p:txBody>
      </p:sp>
      <p:sp>
        <p:nvSpPr>
          <p:cNvPr id="13" name="Text 11"/>
          <p:cNvSpPr/>
          <p:nvPr/>
        </p:nvSpPr>
        <p:spPr>
          <a:xfrm>
            <a:off x="5684368"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Implementation</a:t>
            </a:r>
            <a:endParaRPr lang="en-US" sz="850" dirty="0"/>
          </a:p>
        </p:txBody>
      </p:sp>
      <p:sp>
        <p:nvSpPr>
          <p:cNvPr id="14" name="Text 12"/>
          <p:cNvSpPr/>
          <p:nvPr/>
        </p:nvSpPr>
        <p:spPr>
          <a:xfrm>
            <a:off x="7365797" y="6492240"/>
            <a:ext cx="1635709" cy="274320"/>
          </a:xfrm>
          <a:prstGeom prst="rect">
            <a:avLst/>
          </a:prstGeom>
          <a:noFill/>
          <a:ln/>
        </p:spPr>
        <p:txBody>
          <a:bodyPr wrap="square" lIns="0" tIns="0" rIns="0" bIns="0" rtlCol="0" anchor="ctr"/>
          <a:lstStyle/>
          <a:p>
            <a:pPr marL="0" indent="0" algn="l">
              <a:buNone/>
            </a:pPr>
            <a:r>
              <a:rPr lang="en-US" sz="850" dirty="0">
                <a:solidFill>
                  <a:srgbClr val="9AA4AD"/>
                </a:solidFill>
                <a:latin typeface="Calibri" pitchFamily="34" charset="0"/>
                <a:ea typeface="Calibri" pitchFamily="34" charset="-122"/>
                <a:cs typeface="Calibri" pitchFamily="34" charset="-120"/>
              </a:rPr>
              <a:t>Results</a:t>
            </a:r>
            <a:endParaRPr lang="en-US" sz="850" dirty="0"/>
          </a:p>
        </p:txBody>
      </p:sp>
      <p:sp>
        <p:nvSpPr>
          <p:cNvPr id="15" name="Shape 13"/>
          <p:cNvSpPr/>
          <p:nvPr/>
        </p:nvSpPr>
        <p:spPr>
          <a:xfrm>
            <a:off x="9047226" y="6437376"/>
            <a:ext cx="1635709" cy="27432"/>
          </a:xfrm>
          <a:prstGeom prst="rect">
            <a:avLst/>
          </a:prstGeom>
          <a:solidFill>
            <a:srgbClr val="0097A7"/>
          </a:solidFill>
          <a:ln/>
        </p:spPr>
        <p:txBody>
          <a:bodyPr/>
          <a:lstStyle/>
          <a:p>
            <a:endParaRPr lang="en-US"/>
          </a:p>
        </p:txBody>
      </p:sp>
      <p:sp>
        <p:nvSpPr>
          <p:cNvPr id="16" name="Text 14"/>
          <p:cNvSpPr/>
          <p:nvPr/>
        </p:nvSpPr>
        <p:spPr>
          <a:xfrm>
            <a:off x="9047226" y="6492240"/>
            <a:ext cx="1635709" cy="274320"/>
          </a:xfrm>
          <a:prstGeom prst="rect">
            <a:avLst/>
          </a:prstGeom>
          <a:noFill/>
          <a:ln/>
        </p:spPr>
        <p:txBody>
          <a:bodyPr wrap="square" lIns="0" tIns="0" rIns="0" bIns="0" rtlCol="0" anchor="ctr"/>
          <a:lstStyle/>
          <a:p>
            <a:pPr marL="0" indent="0" algn="l">
              <a:buNone/>
            </a:pPr>
            <a:r>
              <a:rPr lang="en-US" sz="850" b="1" dirty="0">
                <a:solidFill>
                  <a:srgbClr val="0E2A47"/>
                </a:solidFill>
                <a:latin typeface="Calibri" pitchFamily="34" charset="0"/>
                <a:ea typeface="Calibri" pitchFamily="34" charset="-122"/>
                <a:cs typeface="Calibri" pitchFamily="34" charset="-120"/>
              </a:rPr>
              <a:t>Conclusions</a:t>
            </a:r>
            <a:endParaRPr lang="en-US" sz="850" dirty="0"/>
          </a:p>
        </p:txBody>
      </p:sp>
      <p:sp>
        <p:nvSpPr>
          <p:cNvPr id="17" name="Text 15"/>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17 / 19</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E2A47"/>
          </a:solidFill>
          <a:ln/>
        </p:spPr>
        <p:txBody>
          <a:bodyPr/>
          <a:lstStyle/>
          <a:p>
            <a:endParaRPr lang="en-US"/>
          </a:p>
        </p:txBody>
      </p:sp>
      <p:sp>
        <p:nvSpPr>
          <p:cNvPr id="3" name="Shape 1"/>
          <p:cNvSpPr/>
          <p:nvPr/>
        </p:nvSpPr>
        <p:spPr>
          <a:xfrm>
            <a:off x="0" y="6729984"/>
            <a:ext cx="12191695" cy="128016"/>
          </a:xfrm>
          <a:prstGeom prst="rect">
            <a:avLst/>
          </a:prstGeom>
          <a:solidFill>
            <a:srgbClr val="0E2A47"/>
          </a:solidFill>
          <a:ln/>
        </p:spPr>
        <p:txBody>
          <a:bodyPr/>
          <a:lstStyle/>
          <a:p>
            <a:endParaRPr lang="en-US"/>
          </a:p>
        </p:txBody>
      </p:sp>
      <p:sp>
        <p:nvSpPr>
          <p:cNvPr id="4" name="Text 2"/>
          <p:cNvSpPr/>
          <p:nvPr/>
        </p:nvSpPr>
        <p:spPr>
          <a:xfrm>
            <a:off x="822960" y="685800"/>
            <a:ext cx="7315200" cy="502920"/>
          </a:xfrm>
          <a:prstGeom prst="rect">
            <a:avLst/>
          </a:prstGeom>
          <a:noFill/>
          <a:ln/>
        </p:spPr>
        <p:txBody>
          <a:bodyPr wrap="square" lIns="0" tIns="0" rIns="0" bIns="0" rtlCol="0" anchor="ctr"/>
          <a:lstStyle/>
          <a:p>
            <a:pPr marL="0" indent="0">
              <a:buNone/>
            </a:pPr>
            <a:r>
              <a:rPr lang="en-US" sz="2600" b="1" dirty="0">
                <a:solidFill>
                  <a:srgbClr val="1A1A1A"/>
                </a:solidFill>
                <a:latin typeface="Cambria" pitchFamily="34" charset="0"/>
                <a:ea typeface="Cambria" pitchFamily="34" charset="-122"/>
                <a:cs typeface="Cambria" pitchFamily="34" charset="-120"/>
              </a:rPr>
              <a:t>Conclusion</a:t>
            </a:r>
            <a:endParaRPr lang="en-US" sz="2600" dirty="0"/>
          </a:p>
        </p:txBody>
      </p:sp>
      <p:sp>
        <p:nvSpPr>
          <p:cNvPr id="5" name="Shape 3"/>
          <p:cNvSpPr/>
          <p:nvPr/>
        </p:nvSpPr>
        <p:spPr>
          <a:xfrm>
            <a:off x="640080" y="1280160"/>
            <a:ext cx="10911535" cy="16459"/>
          </a:xfrm>
          <a:prstGeom prst="rect">
            <a:avLst/>
          </a:prstGeom>
          <a:solidFill>
            <a:srgbClr val="0E2A47"/>
          </a:solidFill>
          <a:ln/>
        </p:spPr>
        <p:txBody>
          <a:bodyPr/>
          <a:lstStyle/>
          <a:p>
            <a:endParaRPr lang="en-US"/>
          </a:p>
        </p:txBody>
      </p:sp>
      <p:sp>
        <p:nvSpPr>
          <p:cNvPr id="6" name="Text 4"/>
          <p:cNvSpPr/>
          <p:nvPr/>
        </p:nvSpPr>
        <p:spPr>
          <a:xfrm>
            <a:off x="822960" y="1508760"/>
            <a:ext cx="10332720" cy="365760"/>
          </a:xfrm>
          <a:prstGeom prst="rect">
            <a:avLst/>
          </a:prstGeom>
          <a:noFill/>
          <a:ln/>
        </p:spPr>
        <p:txBody>
          <a:bodyPr wrap="square" lIns="0" tIns="0" rIns="0" bIns="0" rtlCol="0" anchor="ctr"/>
          <a:lstStyle/>
          <a:p>
            <a:pPr marL="0" indent="0">
              <a:buNone/>
            </a:pPr>
            <a:r>
              <a:rPr lang="en-US" sz="1400" b="1" dirty="0">
                <a:solidFill>
                  <a:srgbClr val="0E2A47"/>
                </a:solidFill>
                <a:latin typeface="Calibri" pitchFamily="34" charset="0"/>
                <a:ea typeface="Calibri" pitchFamily="34" charset="-122"/>
                <a:cs typeface="Calibri" pitchFamily="34" charset="-120"/>
              </a:rPr>
              <a:t>One finding explains three results</a:t>
            </a:r>
            <a:endParaRPr lang="en-US" sz="1400" dirty="0"/>
          </a:p>
        </p:txBody>
      </p:sp>
      <p:sp>
        <p:nvSpPr>
          <p:cNvPr id="7" name="Text 5"/>
          <p:cNvSpPr/>
          <p:nvPr/>
        </p:nvSpPr>
        <p:spPr>
          <a:xfrm>
            <a:off x="822960" y="1920240"/>
            <a:ext cx="10332720" cy="17373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The angular geometry ArcFace and ECAPA-TDNN impose on their embeddings, is what makes cosine similarity meaningful at all. It explains the largest single gain in the component comparison, it explains why Urdu adaptation succeeds for known identities, and its absence in a frozen encoder explains why Romanian, a fully unseen case, remains modest. </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22960" y="3794760"/>
          <a:ext cx="10332720" cy="1645920"/>
        </p:xfrm>
        <a:graphic>
          <a:graphicData uri="http://schemas.openxmlformats.org/drawingml/2006/table">
            <a:tbl>
              <a:tblPr/>
              <a:tblGrid>
                <a:gridCol w="5166360">
                  <a:extLst>
                    <a:ext uri="{9D8B030D-6E8A-4147-A177-3AD203B41FA5}">
                      <a16:colId xmlns:a16="http://schemas.microsoft.com/office/drawing/2014/main" val="20000"/>
                    </a:ext>
                  </a:extLst>
                </a:gridCol>
                <a:gridCol w="5166360">
                  <a:extLst>
                    <a:ext uri="{9D8B030D-6E8A-4147-A177-3AD203B41FA5}">
                      <a16:colId xmlns:a16="http://schemas.microsoft.com/office/drawing/2014/main" val="20001"/>
                    </a:ext>
                  </a:extLst>
                </a:gridCol>
              </a:tblGrid>
              <a:tr h="329184">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0E2A47"/>
                    </a:solidFill>
                  </a:tcPr>
                </a:tc>
                <a:extLst>
                  <a:ext uri="{0D108BD9-81ED-4DB2-BD59-A6C34878D82A}">
                    <a16:rowId xmlns:a16="http://schemas.microsoft.com/office/drawing/2014/main" val="10000"/>
                  </a:ext>
                </a:extLst>
              </a:tr>
              <a:tr h="32918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Urdu EER</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9.10%</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Urdu Rank-1</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79.69%</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2"/>
                  </a:ext>
                </a:extLst>
              </a:tr>
              <a:tr h="32918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Romanian Rank-1</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4.88%</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Training / RO identities</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tc>
                  <a:txBody>
                    <a:bodyPr/>
                    <a:lstStyle/>
                    <a:p>
                      <a:pPr marL="0" indent="0" algn="ctr">
                        <a:buNone/>
                      </a:pPr>
                      <a:r>
                        <a:rPr lang="en-US" sz="1150" dirty="0">
                          <a:solidFill>
                            <a:srgbClr val="1A1A1A"/>
                          </a:solidFill>
                          <a:latin typeface="Calibri" pitchFamily="34" charset="0"/>
                          <a:ea typeface="Calibri" pitchFamily="34" charset="-122"/>
                          <a:cs typeface="Calibri" pitchFamily="34" charset="-120"/>
                        </a:rPr>
                        <a:t>198 / 41</a:t>
                      </a:r>
                      <a:endParaRPr lang="en-US" sz="1150" dirty="0">
                        <a:latin typeface="Calibri" charset="0"/>
                        <a:ea typeface="Calibri" charset="0"/>
                        <a:cs typeface="Calibri" charset="0"/>
                      </a:endParaRPr>
                    </a:p>
                  </a:txBody>
                  <a:tcPr anchor="ctr">
                    <a:lnL w="9525" cap="flat" cmpd="sng" algn="ctr">
                      <a:solidFill>
                        <a:srgbClr val="C7CDD3"/>
                      </a:solidFill>
                      <a:prstDash val="solid"/>
                      <a:round/>
                      <a:headEnd type="none" w="med" len="med"/>
                      <a:tailEnd type="none" w="med" len="med"/>
                    </a:lnL>
                    <a:lnR w="9525" cap="flat" cmpd="sng" algn="ctr">
                      <a:solidFill>
                        <a:srgbClr val="C7CDD3"/>
                      </a:solidFill>
                      <a:prstDash val="solid"/>
                      <a:round/>
                      <a:headEnd type="none" w="med" len="med"/>
                      <a:tailEnd type="none" w="med" len="med"/>
                    </a:lnR>
                    <a:lnT w="9525" cap="flat" cmpd="sng" algn="ctr">
                      <a:solidFill>
                        <a:srgbClr val="C7CDD3"/>
                      </a:solidFill>
                      <a:prstDash val="solid"/>
                      <a:round/>
                      <a:headEnd type="none" w="med" len="med"/>
                      <a:tailEnd type="none" w="med" len="med"/>
                    </a:lnT>
                    <a:lnB w="9525" cap="flat" cmpd="sng" algn="ctr">
                      <a:solidFill>
                        <a:srgbClr val="C7CDD3"/>
                      </a:solidFill>
                      <a:prstDash val="solid"/>
                      <a:round/>
                      <a:headEnd type="none" w="med" len="med"/>
                      <a:tailEnd type="none" w="med" len="med"/>
                    </a:lnB>
                    <a:solidFill>
                      <a:srgbClr val="F2F4F6"/>
                    </a:solidFill>
                  </a:tcPr>
                </a:tc>
                <a:extLst>
                  <a:ext uri="{0D108BD9-81ED-4DB2-BD59-A6C34878D82A}">
                    <a16:rowId xmlns:a16="http://schemas.microsoft.com/office/drawing/2014/main" val="10004"/>
                  </a:ext>
                </a:extLst>
              </a:tr>
            </a:tbl>
          </a:graphicData>
        </a:graphic>
      </p:graphicFrame>
      <p:sp>
        <p:nvSpPr>
          <p:cNvPr id="9" name="Text 6"/>
          <p:cNvSpPr/>
          <p:nvPr/>
        </p:nvSpPr>
        <p:spPr>
          <a:xfrm>
            <a:off x="822960" y="5897880"/>
            <a:ext cx="7315200" cy="457200"/>
          </a:xfrm>
          <a:prstGeom prst="rect">
            <a:avLst/>
          </a:prstGeom>
          <a:noFill/>
          <a:ln/>
        </p:spPr>
        <p:txBody>
          <a:bodyPr wrap="square" lIns="0" tIns="0" rIns="0" bIns="0" rtlCol="0" anchor="ctr"/>
          <a:lstStyle/>
          <a:p>
            <a:pPr marL="0" indent="0">
              <a:buNone/>
            </a:pPr>
            <a:r>
              <a:rPr lang="en-US" sz="1800" b="1" dirty="0">
                <a:solidFill>
                  <a:srgbClr val="0097A7"/>
                </a:solidFill>
                <a:latin typeface="Cambria" pitchFamily="34" charset="0"/>
                <a:ea typeface="Cambria" pitchFamily="34" charset="-122"/>
                <a:cs typeface="Cambria" pitchFamily="34" charset="-120"/>
              </a:rPr>
              <a:t>Thank you.</a:t>
            </a:r>
            <a:endParaRPr lang="en-US" sz="1800" dirty="0"/>
          </a:p>
        </p:txBody>
      </p:sp>
      <p:sp>
        <p:nvSpPr>
          <p:cNvPr id="10" name="Text 7"/>
          <p:cNvSpPr/>
          <p:nvPr/>
        </p:nvSpPr>
        <p:spPr>
          <a:xfrm>
            <a:off x="10789920" y="6492240"/>
            <a:ext cx="914400" cy="274320"/>
          </a:xfrm>
          <a:prstGeom prst="rect">
            <a:avLst/>
          </a:prstGeom>
          <a:noFill/>
          <a:ln/>
        </p:spPr>
        <p:txBody>
          <a:bodyPr wrap="square" lIns="0" tIns="0" rIns="0" bIns="0" rtlCol="0" anchor="ctr"/>
          <a:lstStyle/>
          <a:p>
            <a:pPr marL="0" indent="0" algn="r">
              <a:buNone/>
            </a:pPr>
            <a:r>
              <a:rPr lang="en-US" sz="1050" b="1" dirty="0">
                <a:solidFill>
                  <a:srgbClr val="5A6672"/>
                </a:solidFill>
                <a:latin typeface="Calibri" pitchFamily="34" charset="0"/>
                <a:ea typeface="Calibri" pitchFamily="34" charset="-122"/>
                <a:cs typeface="Calibri" pitchFamily="34" charset="-120"/>
              </a:rPr>
              <a:t>19 / 19</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685800"/>
            <a:ext cx="8229600" cy="457200"/>
          </a:xfrm>
          <a:prstGeom prst="rect">
            <a:avLst/>
          </a:prstGeom>
          <a:noFill/>
        </p:spPr>
        <p:txBody>
          <a:bodyPr wrap="none">
            <a:spAutoFit/>
          </a:bodyPr>
          <a:lstStyle/>
          <a:p>
            <a:r>
              <a:rPr sz="2400" b="1">
                <a:solidFill>
                  <a:srgbClr val="1A1A1A"/>
                </a:solidFill>
                <a:latin typeface="Cambria"/>
              </a:rPr>
              <a:t>Bibliography</a:t>
            </a:r>
          </a:p>
        </p:txBody>
      </p:sp>
      <p:sp>
        <p:nvSpPr>
          <p:cNvPr id="3" name="Rectangle 2"/>
          <p:cNvSpPr/>
          <p:nvPr/>
        </p:nvSpPr>
        <p:spPr>
          <a:xfrm>
            <a:off x="640080" y="1234440"/>
            <a:ext cx="10908792" cy="18288"/>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63040"/>
            <a:ext cx="5349240" cy="621792"/>
          </a:xfrm>
          <a:prstGeom prst="rect">
            <a:avLst/>
          </a:prstGeom>
          <a:noFill/>
        </p:spPr>
        <p:txBody>
          <a:bodyPr wrap="square">
            <a:spAutoFit/>
          </a:bodyPr>
          <a:lstStyle/>
          <a:p>
            <a:r>
              <a:rPr sz="950">
                <a:solidFill>
                  <a:srgbClr val="1A1A1A"/>
                </a:solidFill>
                <a:latin typeface="Calibri"/>
              </a:rPr>
              <a:t>[1] M. S. Saeed, M. H. Khan, S. Nawaz, M. H. Yousaf, and A. Del Bue, "Fusion and Orthogonal Projection for Improved Face-Voice Association," ICASSP, 2022.</a:t>
            </a:r>
          </a:p>
        </p:txBody>
      </p:sp>
      <p:sp>
        <p:nvSpPr>
          <p:cNvPr id="5" name="TextBox 4"/>
          <p:cNvSpPr txBox="1"/>
          <p:nvPr/>
        </p:nvSpPr>
        <p:spPr>
          <a:xfrm>
            <a:off x="640080" y="2084832"/>
            <a:ext cx="5349240" cy="621792"/>
          </a:xfrm>
          <a:prstGeom prst="rect">
            <a:avLst/>
          </a:prstGeom>
          <a:noFill/>
        </p:spPr>
        <p:txBody>
          <a:bodyPr wrap="square">
            <a:spAutoFit/>
          </a:bodyPr>
          <a:lstStyle/>
          <a:p>
            <a:r>
              <a:rPr sz="950">
                <a:solidFill>
                  <a:srgbClr val="1A1A1A"/>
                </a:solidFill>
                <a:latin typeface="Calibri"/>
              </a:rPr>
              <a:t>[2] R. Tao et al., "Multi-Stage Face-Voice Association Learning with Keynote Speaker Diarization," arXiv:2407.17902, 2024.</a:t>
            </a:r>
          </a:p>
        </p:txBody>
      </p:sp>
      <p:sp>
        <p:nvSpPr>
          <p:cNvPr id="6" name="TextBox 5"/>
          <p:cNvSpPr txBox="1"/>
          <p:nvPr/>
        </p:nvSpPr>
        <p:spPr>
          <a:xfrm>
            <a:off x="640080" y="2706624"/>
            <a:ext cx="5349240" cy="621792"/>
          </a:xfrm>
          <a:prstGeom prst="rect">
            <a:avLst/>
          </a:prstGeom>
          <a:noFill/>
        </p:spPr>
        <p:txBody>
          <a:bodyPr wrap="square">
            <a:spAutoFit/>
          </a:bodyPr>
          <a:lstStyle/>
          <a:p>
            <a:r>
              <a:rPr sz="950">
                <a:solidFill>
                  <a:srgbClr val="1A1A1A"/>
                </a:solidFill>
                <a:latin typeface="Calibri"/>
              </a:rPr>
              <a:t>[3] A. Hannan, F. Malik, H. Jabbar, S. S. Sadiq, and M. Noman, "RFOP: Rethinking Fusion and Orthogonal Projection for Face-Voice Association," arXiv:2512.02860, 2025.</a:t>
            </a:r>
          </a:p>
        </p:txBody>
      </p:sp>
      <p:sp>
        <p:nvSpPr>
          <p:cNvPr id="7" name="TextBox 6"/>
          <p:cNvSpPr txBox="1"/>
          <p:nvPr/>
        </p:nvSpPr>
        <p:spPr>
          <a:xfrm>
            <a:off x="640080" y="3328416"/>
            <a:ext cx="5349240" cy="621792"/>
          </a:xfrm>
          <a:prstGeom prst="rect">
            <a:avLst/>
          </a:prstGeom>
          <a:noFill/>
        </p:spPr>
        <p:txBody>
          <a:bodyPr wrap="square">
            <a:spAutoFit/>
          </a:bodyPr>
          <a:lstStyle/>
          <a:p>
            <a:r>
              <a:rPr sz="950">
                <a:solidFill>
                  <a:srgbClr val="1A1A1A"/>
                </a:solidFill>
                <a:latin typeface="Calibri"/>
              </a:rPr>
              <a:t>[4] Z. Fang, S. Tao, J. Wang, and L. He, "XM-ALIGN: Unified Cross-Modal Embedding Alignment for Face-Voice Association," arXiv:2512.06757, 2025.</a:t>
            </a:r>
          </a:p>
        </p:txBody>
      </p:sp>
      <p:sp>
        <p:nvSpPr>
          <p:cNvPr id="8" name="TextBox 7"/>
          <p:cNvSpPr txBox="1"/>
          <p:nvPr/>
        </p:nvSpPr>
        <p:spPr>
          <a:xfrm>
            <a:off x="640080" y="3950208"/>
            <a:ext cx="5349240" cy="621792"/>
          </a:xfrm>
          <a:prstGeom prst="rect">
            <a:avLst/>
          </a:prstGeom>
          <a:noFill/>
        </p:spPr>
        <p:txBody>
          <a:bodyPr wrap="square">
            <a:spAutoFit/>
          </a:bodyPr>
          <a:lstStyle/>
          <a:p>
            <a:r>
              <a:rPr sz="950">
                <a:solidFill>
                  <a:srgbClr val="1A1A1A"/>
                </a:solidFill>
                <a:latin typeface="Calibri"/>
              </a:rPr>
              <a:t>[5] C. Simic, K. Riedhammer, and T. Bocklet, "Shared Multi-modal Embedding Space for Face-Voice Association," arXiv:2512.04814, 2025.</a:t>
            </a:r>
          </a:p>
        </p:txBody>
      </p:sp>
      <p:sp>
        <p:nvSpPr>
          <p:cNvPr id="9" name="TextBox 8"/>
          <p:cNvSpPr txBox="1"/>
          <p:nvPr/>
        </p:nvSpPr>
        <p:spPr>
          <a:xfrm>
            <a:off x="640080" y="4572000"/>
            <a:ext cx="5349240" cy="621792"/>
          </a:xfrm>
          <a:prstGeom prst="rect">
            <a:avLst/>
          </a:prstGeom>
          <a:noFill/>
        </p:spPr>
        <p:txBody>
          <a:bodyPr wrap="square">
            <a:spAutoFit/>
          </a:bodyPr>
          <a:lstStyle/>
          <a:p>
            <a:r>
              <a:rPr sz="950">
                <a:solidFill>
                  <a:srgbClr val="1A1A1A"/>
                </a:solidFill>
                <a:latin typeface="Calibri"/>
              </a:rPr>
              <a:t>[6] J. Deng, J. Guo, N. Xue, and S. Zafeiriou, "ArcFace: Additive Angular Margin Loss for Deep Face Recognition," CVPR, 2019.</a:t>
            </a:r>
          </a:p>
        </p:txBody>
      </p:sp>
      <p:sp>
        <p:nvSpPr>
          <p:cNvPr id="10" name="TextBox 9"/>
          <p:cNvSpPr txBox="1"/>
          <p:nvPr/>
        </p:nvSpPr>
        <p:spPr>
          <a:xfrm>
            <a:off x="640080" y="5193792"/>
            <a:ext cx="5349240" cy="621792"/>
          </a:xfrm>
          <a:prstGeom prst="rect">
            <a:avLst/>
          </a:prstGeom>
          <a:noFill/>
        </p:spPr>
        <p:txBody>
          <a:bodyPr wrap="square">
            <a:spAutoFit/>
          </a:bodyPr>
          <a:lstStyle/>
          <a:p>
            <a:r>
              <a:rPr sz="950">
                <a:solidFill>
                  <a:srgbClr val="1A1A1A"/>
                </a:solidFill>
                <a:latin typeface="Calibri"/>
              </a:rPr>
              <a:t>[7] Q. Cao, L. Shen, W. Xie, O. M. Parkhi, and A. Zisserman, "VGGFace2: A Dataset for Recognising Faces Across Pose and Age," FG, 2018.</a:t>
            </a:r>
          </a:p>
        </p:txBody>
      </p:sp>
      <p:sp>
        <p:nvSpPr>
          <p:cNvPr id="11" name="TextBox 10"/>
          <p:cNvSpPr txBox="1"/>
          <p:nvPr/>
        </p:nvSpPr>
        <p:spPr>
          <a:xfrm>
            <a:off x="640080" y="5815584"/>
            <a:ext cx="5349240" cy="621792"/>
          </a:xfrm>
          <a:prstGeom prst="rect">
            <a:avLst/>
          </a:prstGeom>
          <a:noFill/>
        </p:spPr>
        <p:txBody>
          <a:bodyPr wrap="square">
            <a:spAutoFit/>
          </a:bodyPr>
          <a:lstStyle/>
          <a:p>
            <a:r>
              <a:rPr sz="950">
                <a:solidFill>
                  <a:srgbClr val="1A1A1A"/>
                </a:solidFill>
                <a:latin typeface="Calibri"/>
              </a:rPr>
              <a:t>[8] B. Desplanques, J. Thienpondt, and K. Demuynck, "ECAPA-TDNN: Emphasized Channel Attention, Propagation and Aggregation in TDNN Based Speaker Verification," Interspeech, 2020.</a:t>
            </a:r>
          </a:p>
        </p:txBody>
      </p:sp>
      <p:sp>
        <p:nvSpPr>
          <p:cNvPr id="12" name="TextBox 11"/>
          <p:cNvSpPr txBox="1"/>
          <p:nvPr/>
        </p:nvSpPr>
        <p:spPr>
          <a:xfrm>
            <a:off x="6263640" y="1463040"/>
            <a:ext cx="5349240" cy="621792"/>
          </a:xfrm>
          <a:prstGeom prst="rect">
            <a:avLst/>
          </a:prstGeom>
          <a:noFill/>
        </p:spPr>
        <p:txBody>
          <a:bodyPr wrap="square">
            <a:spAutoFit/>
          </a:bodyPr>
          <a:lstStyle/>
          <a:p>
            <a:r>
              <a:rPr sz="950">
                <a:solidFill>
                  <a:srgbClr val="1A1A1A"/>
                </a:solidFill>
                <a:latin typeface="Calibri"/>
              </a:rPr>
              <a:t>[9] A. Nagrani, J. S. Chung, and A. Zisserman, "VoxCeleb: A Large-Scale Speaker Identification Dataset," Interspeech, 2017.</a:t>
            </a:r>
          </a:p>
        </p:txBody>
      </p:sp>
      <p:sp>
        <p:nvSpPr>
          <p:cNvPr id="13" name="TextBox 12"/>
          <p:cNvSpPr txBox="1"/>
          <p:nvPr/>
        </p:nvSpPr>
        <p:spPr>
          <a:xfrm>
            <a:off x="6263640" y="2084832"/>
            <a:ext cx="5349240" cy="621792"/>
          </a:xfrm>
          <a:prstGeom prst="rect">
            <a:avLst/>
          </a:prstGeom>
          <a:noFill/>
        </p:spPr>
        <p:txBody>
          <a:bodyPr wrap="square">
            <a:spAutoFit/>
          </a:bodyPr>
          <a:lstStyle/>
          <a:p>
            <a:r>
              <a:rPr sz="950">
                <a:solidFill>
                  <a:srgbClr val="1A1A1A"/>
                </a:solidFill>
                <a:latin typeface="Calibri"/>
              </a:rPr>
              <a:t>[10] J. Hu, L. Shen, and G. Sun, "Squeeze-and-Excitation Networks," CVPR, 2018.</a:t>
            </a:r>
          </a:p>
        </p:txBody>
      </p:sp>
      <p:sp>
        <p:nvSpPr>
          <p:cNvPr id="14" name="TextBox 13"/>
          <p:cNvSpPr txBox="1"/>
          <p:nvPr/>
        </p:nvSpPr>
        <p:spPr>
          <a:xfrm>
            <a:off x="6263640" y="2706624"/>
            <a:ext cx="5349240" cy="621792"/>
          </a:xfrm>
          <a:prstGeom prst="rect">
            <a:avLst/>
          </a:prstGeom>
          <a:noFill/>
        </p:spPr>
        <p:txBody>
          <a:bodyPr wrap="square">
            <a:spAutoFit/>
          </a:bodyPr>
          <a:lstStyle/>
          <a:p>
            <a:r>
              <a:rPr sz="950">
                <a:solidFill>
                  <a:srgbClr val="1A1A1A"/>
                </a:solidFill>
                <a:latin typeface="Calibri"/>
              </a:rPr>
              <a:t>[11] S. Gao, M.-M. Cheng, K. Zhao, X.-Y. Zhang, M.-H. Yang, and P. Torr, "Res2Net: A New Multi-Scale Backbone Architecture," IEEE TPAMI, vol. 43, no. 2, 2021.</a:t>
            </a:r>
          </a:p>
        </p:txBody>
      </p:sp>
      <p:sp>
        <p:nvSpPr>
          <p:cNvPr id="15" name="TextBox 14"/>
          <p:cNvSpPr txBox="1"/>
          <p:nvPr/>
        </p:nvSpPr>
        <p:spPr>
          <a:xfrm>
            <a:off x="6263640" y="3328416"/>
            <a:ext cx="5349240" cy="621792"/>
          </a:xfrm>
          <a:prstGeom prst="rect">
            <a:avLst/>
          </a:prstGeom>
          <a:noFill/>
        </p:spPr>
        <p:txBody>
          <a:bodyPr wrap="square">
            <a:spAutoFit/>
          </a:bodyPr>
          <a:lstStyle/>
          <a:p>
            <a:r>
              <a:rPr sz="950">
                <a:solidFill>
                  <a:srgbClr val="1A1A1A"/>
                </a:solidFill>
                <a:latin typeface="Calibri"/>
              </a:rPr>
              <a:t>[12] K. Okabe, T. Koshinaka, and K. Shinoda, "Attentive Statistics Pooling for Deep Speaker Embedding," Interspeech, 2018.</a:t>
            </a:r>
          </a:p>
        </p:txBody>
      </p:sp>
      <p:sp>
        <p:nvSpPr>
          <p:cNvPr id="16" name="TextBox 15"/>
          <p:cNvSpPr txBox="1"/>
          <p:nvPr/>
        </p:nvSpPr>
        <p:spPr>
          <a:xfrm>
            <a:off x="6263640" y="3950208"/>
            <a:ext cx="5349240" cy="621792"/>
          </a:xfrm>
          <a:prstGeom prst="rect">
            <a:avLst/>
          </a:prstGeom>
          <a:noFill/>
        </p:spPr>
        <p:txBody>
          <a:bodyPr wrap="square">
            <a:spAutoFit/>
          </a:bodyPr>
          <a:lstStyle/>
          <a:p>
            <a:r>
              <a:rPr sz="950">
                <a:solidFill>
                  <a:srgbClr val="1A1A1A"/>
                </a:solidFill>
                <a:latin typeface="Calibri"/>
              </a:rPr>
              <a:t>[13] A. van den Oord, Y. Li, and O. Vinyals, "Representation Learning with Contrastive Predictive Coding," arXiv:1807.03748, 2018.</a:t>
            </a:r>
          </a:p>
        </p:txBody>
      </p:sp>
      <p:sp>
        <p:nvSpPr>
          <p:cNvPr id="17" name="TextBox 16"/>
          <p:cNvSpPr txBox="1"/>
          <p:nvPr/>
        </p:nvSpPr>
        <p:spPr>
          <a:xfrm>
            <a:off x="6263640" y="4572000"/>
            <a:ext cx="5349240" cy="621792"/>
          </a:xfrm>
          <a:prstGeom prst="rect">
            <a:avLst/>
          </a:prstGeom>
          <a:noFill/>
        </p:spPr>
        <p:txBody>
          <a:bodyPr wrap="square">
            <a:spAutoFit/>
          </a:bodyPr>
          <a:lstStyle/>
          <a:p>
            <a:r>
              <a:rPr sz="950">
                <a:solidFill>
                  <a:srgbClr val="1A1A1A"/>
                </a:solidFill>
                <a:latin typeface="Calibri"/>
              </a:rPr>
              <a:t>[14] P. Khosla et al., "Supervised Contrastive Learning," NeurIPS, vol. 33, 2020.</a:t>
            </a:r>
          </a:p>
        </p:txBody>
      </p:sp>
      <p:sp>
        <p:nvSpPr>
          <p:cNvPr id="18" name="TextBox 17"/>
          <p:cNvSpPr txBox="1"/>
          <p:nvPr/>
        </p:nvSpPr>
        <p:spPr>
          <a:xfrm>
            <a:off x="6263640" y="5193792"/>
            <a:ext cx="5349240" cy="621792"/>
          </a:xfrm>
          <a:prstGeom prst="rect">
            <a:avLst/>
          </a:prstGeom>
          <a:noFill/>
        </p:spPr>
        <p:txBody>
          <a:bodyPr wrap="square">
            <a:spAutoFit/>
          </a:bodyPr>
          <a:lstStyle/>
          <a:p>
            <a:r>
              <a:rPr sz="950">
                <a:solidFill>
                  <a:srgbClr val="1A1A1A"/>
                </a:solidFill>
                <a:latin typeface="Calibri"/>
              </a:rPr>
              <a:t>[15] A. Vaswani et al., "Attention Is All You Need," NeurIPS, vol. 30, 2017.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2240</Words>
  <Application>Microsoft Office PowerPoint</Application>
  <PresentationFormat>Widescreen</PresentationFormat>
  <Paragraphs>452</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Cross-Modal Face-Voice Biometric Matching in Multilingual Environments</dc:title>
  <dc:subject>PptxGenJS Presentation</dc:subject>
  <dc:creator>Fedor-Florin Axiuc</dc:creator>
  <cp:lastModifiedBy>Axiuc Florin</cp:lastModifiedBy>
  <cp:revision>6</cp:revision>
  <dcterms:created xsi:type="dcterms:W3CDTF">2026-07-13T05:17:51Z</dcterms:created>
  <dcterms:modified xsi:type="dcterms:W3CDTF">2026-07-13T16:23:50Z</dcterms:modified>
</cp:coreProperties>
</file>